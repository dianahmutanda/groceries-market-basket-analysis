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9085" autoAdjust="0"/>
  </p:normalViewPr>
  <p:slideViewPr>
    <p:cSldViewPr snapToGrid="0">
      <p:cViewPr varScale="1">
        <p:scale>
          <a:sx n="63" d="100"/>
          <a:sy n="63" d="100"/>
        </p:scale>
        <p:origin x="3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A1311D-E474-4383-9E79-FB6F4DB3466F}" type="datetimeFigureOut">
              <a:rPr lang="en-US" smtClean="0"/>
              <a:t>4/5/2024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97106E-60E8-465D-8F87-7A17FDBC9F6A}" type="slidenum">
              <a:rPr lang="en-US" smtClean="0"/>
              <a:t>‹#›</a:t>
            </a:fld>
            <a:endParaRPr lang="en-US"/>
          </a:p>
        </p:txBody>
      </p:sp>
    </p:spTree>
    <p:extLst>
      <p:ext uri="{BB962C8B-B14F-4D97-AF65-F5344CB8AC3E}">
        <p14:creationId xmlns:p14="http://schemas.microsoft.com/office/powerpoint/2010/main" val="2077789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97106E-60E8-465D-8F87-7A17FDBC9F6A}" type="slidenum">
              <a:rPr lang="en-US" smtClean="0"/>
              <a:t>10</a:t>
            </a:fld>
            <a:endParaRPr lang="en-US"/>
          </a:p>
        </p:txBody>
      </p:sp>
    </p:spTree>
    <p:extLst>
      <p:ext uri="{BB962C8B-B14F-4D97-AF65-F5344CB8AC3E}">
        <p14:creationId xmlns:p14="http://schemas.microsoft.com/office/powerpoint/2010/main" val="17570900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02AC24A9-CCB6-4F8D-B8DB-C2F3692CFA5A}" type="datetimeFigureOut">
              <a:rPr lang="en-US" smtClean="0"/>
              <a:t>4/5/2024</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1291828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4/5/2024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830810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02AC24A9-CCB6-4F8D-B8DB-C2F3692CFA5A}" type="datetimeFigureOut">
              <a:rPr lang="en-US" smtClean="0"/>
              <a:t>4/5/2024</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27399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AC24A9-CCB6-4F8D-B8DB-C2F3692CFA5A}" type="datetimeFigureOut">
              <a:rPr lang="en-US" smtClean="0"/>
              <a:t>4/5/2024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226683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AC24A9-CCB6-4F8D-B8DB-C2F3692CFA5A}" type="datetimeFigureOut">
              <a:rPr lang="en-US" smtClean="0"/>
              <a:t>4/5/2024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5549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AC24A9-CCB6-4F8D-B8DB-C2F3692CFA5A}" type="datetimeFigureOut">
              <a:rPr lang="en-US" smtClean="0"/>
              <a:t>4/5/2024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70375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C24A9-CCB6-4F8D-B8DB-C2F3692CFA5A}" type="datetimeFigureOut">
              <a:rPr lang="en-US" smtClean="0"/>
              <a:t>4/5/2024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66652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4/5/2024</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65791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4/5/2024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99165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4/5/2024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33157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2AC24A9-CCB6-4F8D-B8DB-C2F3692CFA5A}" type="datetimeFigureOut">
              <a:rPr lang="en-US" smtClean="0"/>
              <a:t>4/5/2024</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73580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2AC24A9-CCB6-4F8D-B8DB-C2F3692CFA5A}" type="datetimeFigureOut">
              <a:rPr lang="en-US" smtClean="0"/>
              <a:t>4/5/2024</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B2DC25EE-239B-4C5F-AAD1-255A7D5F1EE2}"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38164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02AC24A9-CCB6-4F8D-B8DB-C2F3692CFA5A}" type="datetimeFigureOut">
              <a:rPr lang="en-US" smtClean="0"/>
              <a:t>4/5/2024</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3524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2AC24A9-CCB6-4F8D-B8DB-C2F3692CFA5A}" type="datetimeFigureOut">
              <a:rPr lang="en-US" smtClean="0"/>
              <a:t>4/5/2024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223758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2AC24A9-CCB6-4F8D-B8DB-C2F3692CFA5A}" type="datetimeFigureOut">
              <a:rPr lang="en-US" smtClean="0"/>
              <a:t>4/5/2024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210823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4/5/2024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50197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02AC24A9-CCB6-4F8D-B8DB-C2F3692CFA5A}" type="datetimeFigureOut">
              <a:rPr lang="en-US" smtClean="0"/>
              <a:t>4/5/2024</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017109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2AC24A9-CCB6-4F8D-B8DB-C2F3692CFA5A}" type="datetimeFigureOut">
              <a:rPr lang="en-US" smtClean="0"/>
              <a:t>4/5/2024</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342551683"/>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ggwash.org/view/70407/lyfts-low-cost-rides-to-grocery-stores-in-wards-7-and-8-are-nice-but-theyre-a-band-aid-solution"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www.kaggle.com/datasets/irfanasrullah/groceries" TargetMode="Externa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pandas.pydata.org/docs/" TargetMode="External"/><Relationship Id="rId2" Type="http://schemas.openxmlformats.org/officeDocument/2006/relationships/hyperlink" Target="https://rasbt.github.io/mlxtend/"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0" name="Picture 49">
            <a:extLst>
              <a:ext uri="{FF2B5EF4-FFF2-40B4-BE49-F238E27FC236}">
                <a16:creationId xmlns:a16="http://schemas.microsoft.com/office/drawing/2014/main" id="{CFD580F5-E7BF-4C1D-BEFD-4A4601EBA8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1">
            <a:extLst>
              <a:ext uri="{FF2B5EF4-FFF2-40B4-BE49-F238E27FC236}">
                <a16:creationId xmlns:a16="http://schemas.microsoft.com/office/drawing/2014/main" id="{81666931-951E-175B-9A0C-504C2D1C3414}"/>
              </a:ext>
            </a:extLst>
          </p:cNvPr>
          <p:cNvSpPr>
            <a:spLocks noGrp="1"/>
          </p:cNvSpPr>
          <p:nvPr>
            <p:ph type="ctrTitle"/>
          </p:nvPr>
        </p:nvSpPr>
        <p:spPr>
          <a:xfrm>
            <a:off x="0" y="1656080"/>
            <a:ext cx="5445759" cy="914400"/>
          </a:xfrm>
        </p:spPr>
        <p:txBody>
          <a:bodyPr vert="horz" lIns="91440" tIns="45720" rIns="91440" bIns="45720" rtlCol="0" anchor="b">
            <a:normAutofit/>
          </a:bodyPr>
          <a:lstStyle/>
          <a:p>
            <a:pPr algn="ctr"/>
            <a:r>
              <a:rPr lang="en-US" sz="2000" b="1" u="sng" dirty="0">
                <a:effectLst/>
              </a:rPr>
              <a:t>Groceries Market Basket Dataset</a:t>
            </a:r>
            <a:br>
              <a:rPr lang="en-US" sz="2700" dirty="0">
                <a:effectLst/>
              </a:rPr>
            </a:br>
            <a:endParaRPr lang="en-US" sz="2700" dirty="0"/>
          </a:p>
        </p:txBody>
      </p:sp>
      <p:sp>
        <p:nvSpPr>
          <p:cNvPr id="3" name="Subtitle 2">
            <a:extLst>
              <a:ext uri="{FF2B5EF4-FFF2-40B4-BE49-F238E27FC236}">
                <a16:creationId xmlns:a16="http://schemas.microsoft.com/office/drawing/2014/main" id="{ED0C2BF8-939F-5CD9-D66D-6EBA8C993470}"/>
              </a:ext>
            </a:extLst>
          </p:cNvPr>
          <p:cNvSpPr>
            <a:spLocks noGrp="1"/>
          </p:cNvSpPr>
          <p:nvPr>
            <p:ph type="subTitle" idx="1"/>
          </p:nvPr>
        </p:nvSpPr>
        <p:spPr>
          <a:xfrm>
            <a:off x="685800" y="2364573"/>
            <a:ext cx="3977639" cy="3854112"/>
          </a:xfrm>
        </p:spPr>
        <p:txBody>
          <a:bodyPr vert="horz" lIns="91440" tIns="45720" rIns="91440" bIns="45720" rtlCol="0">
            <a:normAutofit/>
          </a:bodyPr>
          <a:lstStyle/>
          <a:p>
            <a:pPr marL="114300" marR="0" indent="-228600">
              <a:spcBef>
                <a:spcPts val="0"/>
              </a:spcBef>
              <a:spcAft>
                <a:spcPts val="800"/>
              </a:spcAft>
              <a:buFont typeface="Arial" panose="020B0604020202020204" pitchFamily="34" charset="0"/>
              <a:buChar char="•"/>
            </a:pPr>
            <a:r>
              <a:rPr lang="en-US" sz="1600" b="1" dirty="0">
                <a:effectLst/>
              </a:rPr>
              <a:t>Name: Dianah Mutanda</a:t>
            </a:r>
          </a:p>
          <a:p>
            <a:pPr marL="114300" marR="0" indent="-228600">
              <a:spcBef>
                <a:spcPts val="0"/>
              </a:spcBef>
              <a:spcAft>
                <a:spcPts val="800"/>
              </a:spcAft>
              <a:buFont typeface="Arial" panose="020B0604020202020204" pitchFamily="34" charset="0"/>
              <a:buChar char="•"/>
            </a:pPr>
            <a:endParaRPr lang="en-US" sz="1600" b="1" dirty="0">
              <a:effectLst/>
            </a:endParaRPr>
          </a:p>
          <a:p>
            <a:pPr marL="114300" marR="0" indent="-228600">
              <a:spcBef>
                <a:spcPts val="0"/>
              </a:spcBef>
              <a:spcAft>
                <a:spcPts val="800"/>
              </a:spcAft>
              <a:buFont typeface="Arial" panose="020B0604020202020204" pitchFamily="34" charset="0"/>
              <a:buChar char="•"/>
            </a:pPr>
            <a:r>
              <a:rPr lang="en-US" sz="1600" b="1" dirty="0">
                <a:effectLst/>
              </a:rPr>
              <a:t>Course ID: CSIT 558</a:t>
            </a:r>
          </a:p>
          <a:p>
            <a:pPr marL="114300" marR="0" indent="-228600">
              <a:spcBef>
                <a:spcPts val="0"/>
              </a:spcBef>
              <a:spcAft>
                <a:spcPts val="800"/>
              </a:spcAft>
              <a:buFont typeface="Arial" panose="020B0604020202020204" pitchFamily="34" charset="0"/>
              <a:buChar char="•"/>
            </a:pPr>
            <a:endParaRPr lang="en-US" sz="1600" b="1" dirty="0">
              <a:effectLst/>
            </a:endParaRPr>
          </a:p>
          <a:p>
            <a:pPr marL="114300" marR="0" indent="-228600">
              <a:spcBef>
                <a:spcPts val="0"/>
              </a:spcBef>
              <a:spcAft>
                <a:spcPts val="800"/>
              </a:spcAft>
              <a:buFont typeface="Arial" panose="020B0604020202020204" pitchFamily="34" charset="0"/>
              <a:buChar char="•"/>
            </a:pPr>
            <a:r>
              <a:rPr lang="en-US" sz="1600" b="1" dirty="0">
                <a:effectLst/>
              </a:rPr>
              <a:t>COURSE NAME: Data Mining</a:t>
            </a:r>
          </a:p>
          <a:p>
            <a:pPr marL="114300" marR="0" indent="-228600">
              <a:spcBef>
                <a:spcPts val="0"/>
              </a:spcBef>
              <a:spcAft>
                <a:spcPts val="800"/>
              </a:spcAft>
              <a:buFont typeface="Arial" panose="020B0604020202020204" pitchFamily="34" charset="0"/>
              <a:buChar char="•"/>
            </a:pPr>
            <a:endParaRPr lang="en-US" sz="1600" b="1" dirty="0">
              <a:effectLst/>
            </a:endParaRPr>
          </a:p>
          <a:p>
            <a:pPr marL="114300" marR="0" indent="-228600">
              <a:spcBef>
                <a:spcPts val="0"/>
              </a:spcBef>
              <a:spcAft>
                <a:spcPts val="800"/>
              </a:spcAft>
              <a:buFont typeface="Arial" panose="020B0604020202020204" pitchFamily="34" charset="0"/>
              <a:buChar char="•"/>
            </a:pPr>
            <a:r>
              <a:rPr lang="en-US" sz="1600" b="1" dirty="0">
                <a:effectLst/>
              </a:rPr>
              <a:t>TASK: Descriptive Data Mining</a:t>
            </a:r>
          </a:p>
          <a:p>
            <a:pPr indent="-228600">
              <a:buFont typeface="Arial" panose="020B0604020202020204" pitchFamily="34" charset="0"/>
              <a:buChar char="•"/>
            </a:pPr>
            <a:endParaRPr lang="en-US" sz="1600" b="1" dirty="0"/>
          </a:p>
        </p:txBody>
      </p:sp>
      <p:sp useBgFill="1">
        <p:nvSpPr>
          <p:cNvPr id="52" name="Rectangle 51">
            <a:extLst>
              <a:ext uri="{FF2B5EF4-FFF2-40B4-BE49-F238E27FC236}">
                <a16:creationId xmlns:a16="http://schemas.microsoft.com/office/drawing/2014/main" id="{8D25211A-4CA0-4B53-82BB-1EE7C7F3C7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1379" y="0"/>
            <a:ext cx="724061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family shopping at a grocery store&#10;&#10;Description automatically generated">
            <a:extLst>
              <a:ext uri="{FF2B5EF4-FFF2-40B4-BE49-F238E27FC236}">
                <a16:creationId xmlns:a16="http://schemas.microsoft.com/office/drawing/2014/main" id="{B6C8B509-064F-F8DB-72FC-53489B010A0B}"/>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2242" r="10716" b="-1"/>
          <a:stretch/>
        </p:blipFill>
        <p:spPr>
          <a:xfrm>
            <a:off x="5304147" y="17309"/>
            <a:ext cx="6887853" cy="6857990"/>
          </a:xfrm>
          <a:prstGeom prst="rect">
            <a:avLst/>
          </a:prstGeom>
        </p:spPr>
      </p:pic>
      <p:sp>
        <p:nvSpPr>
          <p:cNvPr id="6" name="TextBox 5">
            <a:extLst>
              <a:ext uri="{FF2B5EF4-FFF2-40B4-BE49-F238E27FC236}">
                <a16:creationId xmlns:a16="http://schemas.microsoft.com/office/drawing/2014/main" id="{BE3ADC41-9F58-FF42-58B4-BE5C72BE7F1B}"/>
              </a:ext>
            </a:extLst>
          </p:cNvPr>
          <p:cNvSpPr txBox="1"/>
          <p:nvPr/>
        </p:nvSpPr>
        <p:spPr>
          <a:xfrm>
            <a:off x="11321470" y="5712030"/>
            <a:ext cx="184730" cy="200055"/>
          </a:xfrm>
          <a:prstGeom prst="rect">
            <a:avLst/>
          </a:prstGeom>
          <a:solidFill>
            <a:srgbClr val="000000"/>
          </a:solidFill>
        </p:spPr>
        <p:txBody>
          <a:bodyPr wrap="none" rtlCol="0">
            <a:spAutoFit/>
          </a:bodyPr>
          <a:lstStyle/>
          <a:p>
            <a:pPr algn="r">
              <a:spcAft>
                <a:spcPts val="600"/>
              </a:spcAft>
            </a:pPr>
            <a:endParaRPr lang="en-US" sz="700" dirty="0">
              <a:solidFill>
                <a:srgbClr val="FFFFFF"/>
              </a:solidFill>
            </a:endParaRPr>
          </a:p>
        </p:txBody>
      </p:sp>
    </p:spTree>
    <p:extLst>
      <p:ext uri="{BB962C8B-B14F-4D97-AF65-F5344CB8AC3E}">
        <p14:creationId xmlns:p14="http://schemas.microsoft.com/office/powerpoint/2010/main" val="494883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04BEE-9B26-33A4-C191-113667C478E9}"/>
              </a:ext>
            </a:extLst>
          </p:cNvPr>
          <p:cNvSpPr>
            <a:spLocks noGrp="1"/>
          </p:cNvSpPr>
          <p:nvPr>
            <p:ph type="title"/>
          </p:nvPr>
        </p:nvSpPr>
        <p:spPr/>
        <p:txBody>
          <a:bodyPr>
            <a:normAutofit/>
          </a:bodyPr>
          <a:lstStyle/>
          <a:p>
            <a:pPr algn="l"/>
            <a:r>
              <a:rPr lang="en-US" sz="3600" b="1" u="sng" dirty="0"/>
              <a:t>Dataset Description &amp; Objective</a:t>
            </a:r>
          </a:p>
        </p:txBody>
      </p:sp>
      <p:sp>
        <p:nvSpPr>
          <p:cNvPr id="3" name="Text Placeholder 2">
            <a:extLst>
              <a:ext uri="{FF2B5EF4-FFF2-40B4-BE49-F238E27FC236}">
                <a16:creationId xmlns:a16="http://schemas.microsoft.com/office/drawing/2014/main" id="{D9B66AD9-94D0-0D70-703E-F581471D89E1}"/>
              </a:ext>
            </a:extLst>
          </p:cNvPr>
          <p:cNvSpPr>
            <a:spLocks noGrp="1"/>
          </p:cNvSpPr>
          <p:nvPr>
            <p:ph type="body" idx="1"/>
          </p:nvPr>
        </p:nvSpPr>
        <p:spPr>
          <a:xfrm flipH="1">
            <a:off x="868691" y="2183802"/>
            <a:ext cx="45719" cy="45719"/>
          </a:xfrm>
        </p:spPr>
        <p:txBody>
          <a:bodyPr>
            <a:normAutofit fontScale="25000" lnSpcReduction="20000"/>
          </a:bodyPr>
          <a:lstStyle/>
          <a:p>
            <a:r>
              <a:rPr lang="en-US" dirty="0"/>
              <a:t> </a:t>
            </a:r>
          </a:p>
        </p:txBody>
      </p:sp>
      <p:sp>
        <p:nvSpPr>
          <p:cNvPr id="4" name="Content Placeholder 3">
            <a:extLst>
              <a:ext uri="{FF2B5EF4-FFF2-40B4-BE49-F238E27FC236}">
                <a16:creationId xmlns:a16="http://schemas.microsoft.com/office/drawing/2014/main" id="{3562A336-5390-1A5A-31BA-D359791C5978}"/>
              </a:ext>
            </a:extLst>
          </p:cNvPr>
          <p:cNvSpPr>
            <a:spLocks noGrp="1"/>
          </p:cNvSpPr>
          <p:nvPr>
            <p:ph sz="half" idx="2"/>
          </p:nvPr>
        </p:nvSpPr>
        <p:spPr>
          <a:xfrm>
            <a:off x="685800" y="2183802"/>
            <a:ext cx="5311775" cy="4103876"/>
          </a:xfrm>
        </p:spPr>
        <p:txBody>
          <a:bodyPr>
            <a:normAutofit fontScale="92500" lnSpcReduction="20000"/>
          </a:bodyPr>
          <a:lstStyle/>
          <a:p>
            <a:pPr marL="57150" marR="0" indent="-285750">
              <a:lnSpc>
                <a:spcPct val="107000"/>
              </a:lnSpc>
              <a:spcBef>
                <a:spcPts val="0"/>
              </a:spcBef>
              <a:spcAft>
                <a:spcPts val="800"/>
              </a:spcAft>
              <a:buFont typeface="Wingdings" panose="05000000000000000000" pitchFamily="2" charset="2"/>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 Groceries Market Basket Dataset contains 9835 transactions by customers shopping for groceries. The data contains 169 unique items. It contains transactional data recording items purchased together during a single shopping trip. Each entry lists the products bought in a transaction, enabling analysis of customer behavior, association rules, and pattern recognition for targeted marketing or inventory management.</a:t>
            </a:r>
          </a:p>
          <a:p>
            <a:pPr marL="0" marR="0" indent="0">
              <a:lnSpc>
                <a:spcPct val="107000"/>
              </a:lnSpc>
              <a:spcBef>
                <a:spcPts val="0"/>
              </a:spcBef>
              <a:spcAft>
                <a:spcPts val="800"/>
              </a:spcAft>
              <a:buNone/>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indent="0">
              <a:lnSpc>
                <a:spcPct val="107000"/>
              </a:lnSpc>
              <a:spcBef>
                <a:spcPts val="0"/>
              </a:spcBef>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From the left side is the number of items in a basket then Item 1, 2, 3,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etc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stands for list of the item.</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57150" marR="0" indent="-285750">
              <a:lnSpc>
                <a:spcPct val="107000"/>
              </a:lnSpc>
              <a:spcBef>
                <a:spcPts val="0"/>
              </a:spcBef>
              <a:spcAft>
                <a:spcPts val="800"/>
              </a:spcAft>
              <a:buFont typeface="Wingdings" panose="05000000000000000000" pitchFamily="2" charset="2"/>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This is the link to access the data: </a:t>
            </a:r>
          </a:p>
          <a:p>
            <a:pPr marL="0" marR="0" indent="0">
              <a:lnSpc>
                <a:spcPct val="107000"/>
              </a:lnSpc>
              <a:spcBef>
                <a:spcPts val="0"/>
              </a:spcBef>
              <a:spcAft>
                <a:spcPts val="800"/>
              </a:spcAft>
              <a:buNone/>
            </a:pPr>
            <a:r>
              <a:rPr lang="en-US"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2"/>
              </a:rPr>
              <a:t>https://www.kaggle.com/datasets/irfanasrullah/groceries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5" name="Text Placeholder 4">
            <a:extLst>
              <a:ext uri="{FF2B5EF4-FFF2-40B4-BE49-F238E27FC236}">
                <a16:creationId xmlns:a16="http://schemas.microsoft.com/office/drawing/2014/main" id="{ACE4D14F-3009-E960-897A-5D1D4F42003E}"/>
              </a:ext>
            </a:extLst>
          </p:cNvPr>
          <p:cNvSpPr>
            <a:spLocks noGrp="1"/>
          </p:cNvSpPr>
          <p:nvPr>
            <p:ph type="body" sz="quarter" idx="3"/>
          </p:nvPr>
        </p:nvSpPr>
        <p:spPr>
          <a:xfrm>
            <a:off x="6325386" y="2183802"/>
            <a:ext cx="5105400" cy="1897820"/>
          </a:xfrm>
        </p:spPr>
        <p:txBody>
          <a:bodyPr>
            <a:normAutofit fontScale="25000" lnSpcReduction="20000"/>
          </a:bodyPr>
          <a:lstStyle/>
          <a:p>
            <a:r>
              <a:rPr lang="en-US" sz="8000" b="1" u="sng" kern="100" dirty="0">
                <a:effectLst/>
                <a:latin typeface="Times New Roman" panose="02020603050405020304" pitchFamily="18" charset="0"/>
                <a:ea typeface="Aptos" panose="020B0004020202020204" pitchFamily="34" charset="0"/>
                <a:cs typeface="Times New Roman" panose="02020603050405020304" pitchFamily="18" charset="0"/>
              </a:rPr>
              <a:t>Goal:</a:t>
            </a:r>
            <a:r>
              <a:rPr lang="en-US" sz="6400" b="1" kern="100" dirty="0">
                <a:effectLst/>
                <a:latin typeface="Times New Roman" panose="02020603050405020304" pitchFamily="18" charset="0"/>
                <a:ea typeface="Aptos" panose="020B0004020202020204" pitchFamily="34" charset="0"/>
                <a:cs typeface="Times New Roman" panose="02020603050405020304" pitchFamily="18" charset="0"/>
              </a:rPr>
              <a:t>  </a:t>
            </a:r>
          </a:p>
          <a:p>
            <a:r>
              <a:rPr lang="en-US" sz="6400" kern="100" dirty="0">
                <a:effectLst/>
                <a:latin typeface="Times New Roman" panose="02020603050405020304" pitchFamily="18" charset="0"/>
                <a:ea typeface="Aptos" panose="020B0004020202020204" pitchFamily="34" charset="0"/>
                <a:cs typeface="Times New Roman" panose="02020603050405020304" pitchFamily="18" charset="0"/>
              </a:rPr>
              <a:t>To apply descriptive data mining on this dataset using association rules. The dataset contains categorical data and by converting these values to binary, the </a:t>
            </a:r>
            <a:r>
              <a:rPr lang="en-US" sz="6400" kern="100" dirty="0" err="1">
                <a:effectLst/>
                <a:latin typeface="Times New Roman" panose="02020603050405020304" pitchFamily="18" charset="0"/>
                <a:ea typeface="Aptos" panose="020B0004020202020204" pitchFamily="34" charset="0"/>
                <a:cs typeface="Times New Roman" panose="02020603050405020304" pitchFamily="18" charset="0"/>
              </a:rPr>
              <a:t>Apriori</a:t>
            </a:r>
            <a:r>
              <a:rPr lang="en-US" sz="6400" kern="100" dirty="0">
                <a:effectLst/>
                <a:latin typeface="Times New Roman" panose="02020603050405020304" pitchFamily="18" charset="0"/>
                <a:ea typeface="Aptos" panose="020B0004020202020204" pitchFamily="34" charset="0"/>
                <a:cs typeface="Times New Roman" panose="02020603050405020304" pitchFamily="18" charset="0"/>
              </a:rPr>
              <a:t> algorithm can be used. </a:t>
            </a:r>
            <a:r>
              <a:rPr lang="en-US" sz="6400" kern="100" dirty="0" err="1">
                <a:effectLst/>
                <a:latin typeface="Times New Roman" panose="02020603050405020304" pitchFamily="18" charset="0"/>
                <a:ea typeface="Aptos" panose="020B0004020202020204" pitchFamily="34" charset="0"/>
                <a:cs typeface="Times New Roman" panose="02020603050405020304" pitchFamily="18" charset="0"/>
              </a:rPr>
              <a:t>Apriori</a:t>
            </a:r>
            <a:r>
              <a:rPr lang="en-US" sz="6400" kern="100" dirty="0">
                <a:effectLst/>
                <a:latin typeface="Times New Roman" panose="02020603050405020304" pitchFamily="18" charset="0"/>
                <a:ea typeface="Aptos" panose="020B0004020202020204" pitchFamily="34" charset="0"/>
                <a:cs typeface="Times New Roman" panose="02020603050405020304" pitchFamily="18" charset="0"/>
              </a:rPr>
              <a:t> was chosen to discover patterns of co-occurrence among items frequently purchased together by customers.</a:t>
            </a:r>
            <a:endParaRPr lang="en-US" sz="6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6" name="Content Placeholder 5">
            <a:extLst>
              <a:ext uri="{FF2B5EF4-FFF2-40B4-BE49-F238E27FC236}">
                <a16:creationId xmlns:a16="http://schemas.microsoft.com/office/drawing/2014/main" id="{77F0A39D-3FFA-1FAC-4012-5131526567CA}"/>
              </a:ext>
            </a:extLst>
          </p:cNvPr>
          <p:cNvSpPr>
            <a:spLocks noGrp="1"/>
          </p:cNvSpPr>
          <p:nvPr>
            <p:ph sz="quarter" idx="4"/>
          </p:nvPr>
        </p:nvSpPr>
        <p:spPr>
          <a:xfrm>
            <a:off x="6325386" y="4366585"/>
            <a:ext cx="5434148" cy="1852100"/>
          </a:xfrm>
        </p:spPr>
        <p:txBody>
          <a:bodyPr>
            <a:normAutofit fontScale="92500" lnSpcReduction="20000"/>
          </a:bodyPr>
          <a:lstStyle/>
          <a:p>
            <a:pPr marL="0" marR="0" indent="0">
              <a:lnSpc>
                <a:spcPct val="107000"/>
              </a:lnSpc>
              <a:spcBef>
                <a:spcPts val="0"/>
              </a:spcBef>
              <a:spcAft>
                <a:spcPts val="800"/>
              </a:spcAft>
              <a:buNone/>
            </a:pPr>
            <a:r>
              <a:rPr lang="en-US" sz="2600" b="1" u="sng" kern="100" dirty="0">
                <a:effectLst/>
                <a:latin typeface="Times New Roman" panose="02020603050405020304" pitchFamily="18" charset="0"/>
                <a:ea typeface="Aptos" panose="020B0004020202020204" pitchFamily="34" charset="0"/>
                <a:cs typeface="Times New Roman" panose="02020603050405020304" pitchFamily="18" charset="0"/>
              </a:rPr>
              <a:t>Objective</a:t>
            </a:r>
            <a:r>
              <a:rPr lang="en-US" sz="1800" b="1" u="sng" kern="100" dirty="0">
                <a:effectLst/>
                <a:latin typeface="Times New Roman" panose="02020603050405020304" pitchFamily="18" charset="0"/>
                <a:ea typeface="Aptos" panose="020B0004020202020204" pitchFamily="34" charset="0"/>
                <a:cs typeface="Times New Roman" panose="02020603050405020304" pitchFamily="18" charset="0"/>
              </a:rPr>
              <a:t>:</a:t>
            </a:r>
          </a:p>
          <a:p>
            <a:pPr marL="0" marR="0" indent="0">
              <a:lnSpc>
                <a:spcPct val="107000"/>
              </a:lnSpc>
              <a:spcBef>
                <a:spcPts val="0"/>
              </a:spcBef>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This analysis aims to identify patterns of co-occurrence among items frequently purchased together by customers, allowing businesses to understand buying habits, optimize product placement, and implement targeted marketing strategies to enhance sales and customer satisfaction.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21809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BDFADFB3-3D44-49A8-AE3B-A87C61607F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useBgFill="1">
        <p:nvSpPr>
          <p:cNvPr id="24" name="Rounded Rectangle 14">
            <a:extLst>
              <a:ext uri="{FF2B5EF4-FFF2-40B4-BE49-F238E27FC236}">
                <a16:creationId xmlns:a16="http://schemas.microsoft.com/office/drawing/2014/main" id="{1FDFF85F-F105-40D5-9793-90419158C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0"/>
            <a:ext cx="7555992" cy="6858000"/>
          </a:xfrm>
          <a:prstGeom prst="roundRect">
            <a:avLst>
              <a:gd name="adj" fmla="val 0"/>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6" name="Rectangle 25">
            <a:extLst>
              <a:ext uri="{FF2B5EF4-FFF2-40B4-BE49-F238E27FC236}">
                <a16:creationId xmlns:a16="http://schemas.microsoft.com/office/drawing/2014/main" id="{35AB47A4-BA8C-4250-88BD-D49C68C5F9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solidFill>
            <a:schemeClr val="tx1"/>
          </a:soli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8" name="Picture 27">
            <a:extLst>
              <a:ext uri="{FF2B5EF4-FFF2-40B4-BE49-F238E27FC236}">
                <a16:creationId xmlns:a16="http://schemas.microsoft.com/office/drawing/2014/main" id="{66C8958D-EB99-414F-B735-863B67BB14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1975"/>
          <a:stretch/>
        </p:blipFill>
        <p:spPr>
          <a:xfrm>
            <a:off x="0" y="0"/>
            <a:ext cx="4636008" cy="1441450"/>
          </a:xfrm>
          <a:prstGeom prst="rect">
            <a:avLst/>
          </a:prstGeom>
        </p:spPr>
      </p:pic>
      <p:sp>
        <p:nvSpPr>
          <p:cNvPr id="2" name="Title 1">
            <a:extLst>
              <a:ext uri="{FF2B5EF4-FFF2-40B4-BE49-F238E27FC236}">
                <a16:creationId xmlns:a16="http://schemas.microsoft.com/office/drawing/2014/main" id="{D4DC64C5-C267-0318-DE6D-9F564C743899}"/>
              </a:ext>
            </a:extLst>
          </p:cNvPr>
          <p:cNvSpPr>
            <a:spLocks noGrp="1"/>
          </p:cNvSpPr>
          <p:nvPr>
            <p:ph type="title"/>
          </p:nvPr>
        </p:nvSpPr>
        <p:spPr>
          <a:xfrm>
            <a:off x="685800" y="764373"/>
            <a:ext cx="3687417" cy="1920372"/>
          </a:xfrm>
        </p:spPr>
        <p:txBody>
          <a:bodyPr vert="horz" lIns="91440" tIns="45720" rIns="91440" bIns="45720" rtlCol="0" anchor="ctr">
            <a:normAutofit/>
          </a:bodyPr>
          <a:lstStyle/>
          <a:p>
            <a:r>
              <a:rPr lang="en-US" sz="3600" kern="1200" cap="all" baseline="0">
                <a:solidFill>
                  <a:schemeClr val="bg1"/>
                </a:solidFill>
                <a:latin typeface="+mj-lt"/>
                <a:ea typeface="+mj-ea"/>
                <a:cs typeface="+mj-cs"/>
              </a:rPr>
              <a:t> </a:t>
            </a:r>
          </a:p>
        </p:txBody>
      </p:sp>
      <p:pic>
        <p:nvPicPr>
          <p:cNvPr id="30" name="Picture 29">
            <a:extLst>
              <a:ext uri="{FF2B5EF4-FFF2-40B4-BE49-F238E27FC236}">
                <a16:creationId xmlns:a16="http://schemas.microsoft.com/office/drawing/2014/main" id="{39E5F3CB-7BDD-4E64-B274-CD900F08C6F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975"/>
          <a:stretch/>
        </p:blipFill>
        <p:spPr>
          <a:xfrm>
            <a:off x="0" y="4375150"/>
            <a:ext cx="4636008" cy="2482850"/>
          </a:xfrm>
          <a:prstGeom prst="rect">
            <a:avLst/>
          </a:prstGeom>
        </p:spPr>
      </p:pic>
      <p:sp>
        <p:nvSpPr>
          <p:cNvPr id="4" name="Text Placeholder 3">
            <a:extLst>
              <a:ext uri="{FF2B5EF4-FFF2-40B4-BE49-F238E27FC236}">
                <a16:creationId xmlns:a16="http://schemas.microsoft.com/office/drawing/2014/main" id="{9290284C-F317-54AA-54C8-683D964C0CCF}"/>
              </a:ext>
            </a:extLst>
          </p:cNvPr>
          <p:cNvSpPr>
            <a:spLocks noGrp="1"/>
          </p:cNvSpPr>
          <p:nvPr>
            <p:ph type="body" sz="half" idx="2"/>
          </p:nvPr>
        </p:nvSpPr>
        <p:spPr>
          <a:xfrm>
            <a:off x="0" y="1441450"/>
            <a:ext cx="4373217" cy="3087007"/>
          </a:xfrm>
        </p:spPr>
        <p:txBody>
          <a:bodyPr vert="horz" lIns="91440" tIns="45720" rIns="91440" bIns="45720" rtlCol="0">
            <a:normAutofit lnSpcReduction="10000"/>
          </a:bodyPr>
          <a:lstStyle/>
          <a:p>
            <a:pPr indent="-228600">
              <a:buFont typeface="Arial" panose="020B0604020202020204" pitchFamily="34" charset="0"/>
              <a:buChar char="•"/>
            </a:pPr>
            <a:endParaRPr lang="en-US" dirty="0">
              <a:solidFill>
                <a:schemeClr val="bg1"/>
              </a:solidFill>
            </a:endParaRPr>
          </a:p>
          <a:p>
            <a:pPr marL="400050" indent="-285750">
              <a:lnSpc>
                <a:spcPct val="150000"/>
              </a:lnSpc>
              <a:buFont typeface="Wingdings" panose="05000000000000000000" pitchFamily="2" charset="2"/>
              <a:buChar char="§"/>
            </a:pPr>
            <a:r>
              <a:rPr lang="en-US" sz="2000" dirty="0">
                <a:solidFill>
                  <a:schemeClr val="bg1"/>
                </a:solidFill>
                <a:effectLst/>
                <a:latin typeface="Times New Roman" panose="02020603050405020304" pitchFamily="18" charset="0"/>
                <a:cs typeface="Times New Roman" panose="02020603050405020304" pitchFamily="18" charset="0"/>
              </a:rPr>
              <a:t>The resulting dataset used in this project previously contained 9835 rows and 33 columns and now contains 7676 rows and 24 columns after data cleaning, integration, and selection</a:t>
            </a:r>
            <a:r>
              <a:rPr lang="en-US" sz="1800" dirty="0">
                <a:solidFill>
                  <a:schemeClr val="bg1"/>
                </a:solidFill>
                <a:effectLst/>
              </a:rPr>
              <a:t>.</a:t>
            </a:r>
          </a:p>
          <a:p>
            <a:pPr indent="-228600">
              <a:buFont typeface="Arial" panose="020B0604020202020204" pitchFamily="34" charset="0"/>
              <a:buChar char="•"/>
            </a:pPr>
            <a:endParaRPr lang="en-US" dirty="0">
              <a:solidFill>
                <a:schemeClr val="bg1"/>
              </a:solidFill>
            </a:endParaRPr>
          </a:p>
        </p:txBody>
      </p:sp>
      <p:pic>
        <p:nvPicPr>
          <p:cNvPr id="6" name="Picture Placeholder 5" descr="A screenshot of a menu&#10;&#10;Description automatically generated">
            <a:extLst>
              <a:ext uri="{FF2B5EF4-FFF2-40B4-BE49-F238E27FC236}">
                <a16:creationId xmlns:a16="http://schemas.microsoft.com/office/drawing/2014/main" id="{A482EC30-0CB9-9AC4-C412-ED0933501934}"/>
              </a:ext>
            </a:extLst>
          </p:cNvPr>
          <p:cNvPicPr>
            <a:picLocks noGrp="1" noChangeAspect="1"/>
          </p:cNvPicPr>
          <p:nvPr>
            <p:ph type="pic" idx="1"/>
          </p:nvPr>
        </p:nvPicPr>
        <p:blipFill rotWithShape="1">
          <a:blip r:embed="rId4">
            <a:extLst>
              <a:ext uri="{28A0092B-C50C-407E-A947-70E740481C1C}">
                <a14:useLocalDpi xmlns:a14="http://schemas.microsoft.com/office/drawing/2010/main" val="0"/>
              </a:ext>
            </a:extLst>
          </a:blip>
          <a:srcRect l="875" r="4412" b="2"/>
          <a:stretch/>
        </p:blipFill>
        <p:spPr>
          <a:xfrm>
            <a:off x="5279475" y="1071920"/>
            <a:ext cx="6269058" cy="4714159"/>
          </a:xfrm>
          <a:prstGeom prst="rect">
            <a:avLst/>
          </a:prstGeom>
        </p:spPr>
      </p:pic>
    </p:spTree>
    <p:extLst>
      <p:ext uri="{BB962C8B-B14F-4D97-AF65-F5344CB8AC3E}">
        <p14:creationId xmlns:p14="http://schemas.microsoft.com/office/powerpoint/2010/main" val="1756170467"/>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F6564-3E00-6B2C-07B3-6B7A7E9D08A0}"/>
              </a:ext>
            </a:extLst>
          </p:cNvPr>
          <p:cNvSpPr>
            <a:spLocks noGrp="1"/>
          </p:cNvSpPr>
          <p:nvPr>
            <p:ph type="title"/>
          </p:nvPr>
        </p:nvSpPr>
        <p:spPr>
          <a:xfrm>
            <a:off x="2895600" y="-235131"/>
            <a:ext cx="9296400" cy="1952171"/>
          </a:xfrm>
        </p:spPr>
        <p:txBody>
          <a:bodyPr/>
          <a:lstStyle/>
          <a:p>
            <a:r>
              <a:rPr lang="en-US" b="1" u="sng" dirty="0"/>
              <a:t>Data Preprocessing</a:t>
            </a:r>
          </a:p>
        </p:txBody>
      </p:sp>
      <p:sp>
        <p:nvSpPr>
          <p:cNvPr id="3" name="Content Placeholder 2">
            <a:extLst>
              <a:ext uri="{FF2B5EF4-FFF2-40B4-BE49-F238E27FC236}">
                <a16:creationId xmlns:a16="http://schemas.microsoft.com/office/drawing/2014/main" id="{270E1001-DA84-8F5E-AD66-910D368B627E}"/>
              </a:ext>
            </a:extLst>
          </p:cNvPr>
          <p:cNvSpPr>
            <a:spLocks noGrp="1"/>
          </p:cNvSpPr>
          <p:nvPr>
            <p:ph sz="half" idx="1"/>
          </p:nvPr>
        </p:nvSpPr>
        <p:spPr>
          <a:xfrm>
            <a:off x="6679474" y="1166949"/>
            <a:ext cx="5512526" cy="3030581"/>
          </a:xfrm>
        </p:spPr>
        <p:txBody>
          <a:bodyPr>
            <a:normAutofit fontScale="85000" lnSpcReduction="10000"/>
          </a:bodyPr>
          <a:lstStyle/>
          <a:p>
            <a:pPr marL="57150" marR="0" indent="-285750">
              <a:lnSpc>
                <a:spcPct val="107000"/>
              </a:lnSpc>
              <a:spcBef>
                <a:spcPts val="0"/>
              </a:spcBef>
              <a:spcAft>
                <a:spcPts val="800"/>
              </a:spcAft>
              <a:buFont typeface="Wingdings" panose="05000000000000000000" pitchFamily="2" charset="2"/>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Read transaction by transaction and save each transaction</a:t>
            </a:r>
          </a:p>
          <a:p>
            <a:pPr marL="0" marR="0" indent="0">
              <a:lnSpc>
                <a:spcPct val="107000"/>
              </a:lnSpc>
              <a:spcBef>
                <a:spcPts val="0"/>
              </a:spcBef>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as a list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57150" marR="0" indent="-285750">
              <a:lnSpc>
                <a:spcPct val="107000"/>
              </a:lnSpc>
              <a:spcBef>
                <a:spcPts val="0"/>
              </a:spcBef>
              <a:spcAft>
                <a:spcPts val="800"/>
              </a:spcAft>
              <a:buFont typeface="Wingdings" panose="05000000000000000000" pitchFamily="2" charset="2"/>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Drop all the null columns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57150" marR="0" indent="-285750">
              <a:lnSpc>
                <a:spcPct val="107000"/>
              </a:lnSpc>
              <a:spcBef>
                <a:spcPts val="0"/>
              </a:spcBef>
              <a:spcAft>
                <a:spcPts val="800"/>
              </a:spcAft>
              <a:buFont typeface="Wingdings" panose="05000000000000000000" pitchFamily="2" charset="2"/>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Drop all the columns with less than 10 entries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57150" marR="0" indent="-285750">
              <a:lnSpc>
                <a:spcPct val="107000"/>
              </a:lnSpc>
              <a:spcBef>
                <a:spcPts val="0"/>
              </a:spcBef>
              <a:spcAft>
                <a:spcPts val="800"/>
              </a:spcAft>
              <a:buFont typeface="Wingdings" panose="05000000000000000000" pitchFamily="2" charset="2"/>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Drop all the null rows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57150" marR="0" indent="-285750">
              <a:lnSpc>
                <a:spcPct val="107000"/>
              </a:lnSpc>
              <a:spcBef>
                <a:spcPts val="0"/>
              </a:spcBef>
              <a:spcAft>
                <a:spcPts val="800"/>
              </a:spcAft>
              <a:buFont typeface="Wingdings" panose="05000000000000000000" pitchFamily="2" charset="2"/>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Add a new column that lists unique transaction IDs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57150" marR="0" indent="-285750">
              <a:lnSpc>
                <a:spcPct val="107000"/>
              </a:lnSpc>
              <a:spcBef>
                <a:spcPts val="0"/>
              </a:spcBef>
              <a:spcAft>
                <a:spcPts val="800"/>
              </a:spcAft>
              <a:buFont typeface="Wingdings" panose="05000000000000000000" pitchFamily="2" charset="2"/>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Convert the data into binary form</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57150" marR="0" indent="-285750">
              <a:lnSpc>
                <a:spcPct val="107000"/>
              </a:lnSpc>
              <a:spcBef>
                <a:spcPts val="0"/>
              </a:spcBef>
              <a:spcAft>
                <a:spcPts val="800"/>
              </a:spcAft>
              <a:buFont typeface="Wingdings" panose="05000000000000000000" pitchFamily="2" charset="2"/>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Data frame with binary values: 0 represents presence and</a:t>
            </a:r>
          </a:p>
          <a:p>
            <a:pPr marL="0" marR="0" indent="0">
              <a:lnSpc>
                <a:spcPct val="107000"/>
              </a:lnSpc>
              <a:spcBef>
                <a:spcPts val="0"/>
              </a:spcBef>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1 represents absence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pic>
        <p:nvPicPr>
          <p:cNvPr id="6" name="Content Placeholder 5" descr="A screenshot of a computer program&#10;&#10;Description automatically generated">
            <a:extLst>
              <a:ext uri="{FF2B5EF4-FFF2-40B4-BE49-F238E27FC236}">
                <a16:creationId xmlns:a16="http://schemas.microsoft.com/office/drawing/2014/main" id="{4C6A6F68-DD96-3D4A-3E45-2FFDC03A75A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24967" y="269966"/>
            <a:ext cx="5561729" cy="3709851"/>
          </a:xfrm>
        </p:spPr>
      </p:pic>
      <p:pic>
        <p:nvPicPr>
          <p:cNvPr id="8" name="Picture 7" descr="A table with numbers and letters&#10;&#10;Description automatically generated">
            <a:extLst>
              <a:ext uri="{FF2B5EF4-FFF2-40B4-BE49-F238E27FC236}">
                <a16:creationId xmlns:a16="http://schemas.microsoft.com/office/drawing/2014/main" id="{2714B5C3-EF89-193D-4850-EC955E22F7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967" y="4328161"/>
            <a:ext cx="11892860" cy="2424174"/>
          </a:xfrm>
          <a:prstGeom prst="rect">
            <a:avLst/>
          </a:prstGeom>
        </p:spPr>
      </p:pic>
    </p:spTree>
    <p:extLst>
      <p:ext uri="{BB962C8B-B14F-4D97-AF65-F5344CB8AC3E}">
        <p14:creationId xmlns:p14="http://schemas.microsoft.com/office/powerpoint/2010/main" val="3493485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A965F-46AB-B5B0-70A7-8AC5B1356A57}"/>
              </a:ext>
            </a:extLst>
          </p:cNvPr>
          <p:cNvSpPr>
            <a:spLocks noGrp="1"/>
          </p:cNvSpPr>
          <p:nvPr>
            <p:ph type="ctrTitle"/>
          </p:nvPr>
        </p:nvSpPr>
        <p:spPr>
          <a:xfrm>
            <a:off x="1371600" y="975361"/>
            <a:ext cx="9448800" cy="705394"/>
          </a:xfrm>
        </p:spPr>
        <p:txBody>
          <a:bodyPr>
            <a:normAutofit/>
          </a:bodyPr>
          <a:lstStyle/>
          <a:p>
            <a:r>
              <a:rPr lang="en-US" sz="2400" b="1" u="sng" dirty="0">
                <a:effectLst/>
                <a:latin typeface="Times New Roman" panose="02020603050405020304" pitchFamily="18" charset="0"/>
                <a:ea typeface="Aptos" panose="020B0004020202020204" pitchFamily="34" charset="0"/>
              </a:rPr>
              <a:t>Definition of terms related to </a:t>
            </a:r>
            <a:r>
              <a:rPr lang="en-US" sz="2400" b="1" u="sng" dirty="0" err="1">
                <a:effectLst/>
                <a:latin typeface="Times New Roman" panose="02020603050405020304" pitchFamily="18" charset="0"/>
                <a:ea typeface="Aptos" panose="020B0004020202020204" pitchFamily="34" charset="0"/>
              </a:rPr>
              <a:t>apriori</a:t>
            </a:r>
            <a:r>
              <a:rPr lang="en-US" sz="2400" b="1" u="sng" dirty="0">
                <a:effectLst/>
                <a:latin typeface="Times New Roman" panose="02020603050405020304" pitchFamily="18" charset="0"/>
                <a:ea typeface="Aptos" panose="020B0004020202020204" pitchFamily="34" charset="0"/>
              </a:rPr>
              <a:t> algorithm</a:t>
            </a:r>
            <a:endParaRPr lang="en-US" sz="2400" b="1" u="sng" dirty="0"/>
          </a:p>
        </p:txBody>
      </p:sp>
      <p:sp>
        <p:nvSpPr>
          <p:cNvPr id="3" name="Subtitle 2">
            <a:extLst>
              <a:ext uri="{FF2B5EF4-FFF2-40B4-BE49-F238E27FC236}">
                <a16:creationId xmlns:a16="http://schemas.microsoft.com/office/drawing/2014/main" id="{6FFBE458-EB88-35DD-C2B7-4D3577D3DA5D}"/>
              </a:ext>
            </a:extLst>
          </p:cNvPr>
          <p:cNvSpPr>
            <a:spLocks noGrp="1"/>
          </p:cNvSpPr>
          <p:nvPr>
            <p:ph type="subTitle" idx="1"/>
          </p:nvPr>
        </p:nvSpPr>
        <p:spPr>
          <a:xfrm>
            <a:off x="1371601" y="1881051"/>
            <a:ext cx="9688286" cy="4746172"/>
          </a:xfrm>
        </p:spPr>
        <p:txBody>
          <a:bodyPr>
            <a:normAutofit lnSpcReduction="10000"/>
          </a:bodyPr>
          <a:lstStyle/>
          <a:p>
            <a:pPr marL="342900" indent="-342900">
              <a:buFont typeface="Wingdings" panose="05000000000000000000" pitchFamily="2" charset="2"/>
              <a:buChar char="§"/>
            </a:pPr>
            <a:r>
              <a:rPr lang="en-US" b="1" dirty="0" err="1">
                <a:latin typeface="Times New Roman" panose="02020603050405020304" pitchFamily="18" charset="0"/>
                <a:cs typeface="Times New Roman" panose="02020603050405020304" pitchFamily="18" charset="0"/>
              </a:rPr>
              <a:t>Apriori</a:t>
            </a:r>
            <a:r>
              <a:rPr lang="en-US" b="1" dirty="0">
                <a:latin typeface="Times New Roman" panose="02020603050405020304" pitchFamily="18" charset="0"/>
                <a:cs typeface="Times New Roman" panose="02020603050405020304" pitchFamily="18" charset="0"/>
              </a:rPr>
              <a:t> Algorithm: This is a classic algorithm used in data mining and association rule learning. It is used to discover frequent </a:t>
            </a:r>
            <a:r>
              <a:rPr lang="en-US" b="1" dirty="0" err="1">
                <a:latin typeface="Times New Roman" panose="02020603050405020304" pitchFamily="18" charset="0"/>
                <a:cs typeface="Times New Roman" panose="02020603050405020304" pitchFamily="18" charset="0"/>
              </a:rPr>
              <a:t>itemsets</a:t>
            </a:r>
            <a:r>
              <a:rPr lang="en-US" b="1" dirty="0">
                <a:latin typeface="Times New Roman" panose="02020603050405020304" pitchFamily="18" charset="0"/>
                <a:cs typeface="Times New Roman" panose="02020603050405020304" pitchFamily="18" charset="0"/>
              </a:rPr>
              <a:t> in a transaction database and to derive association rules from these </a:t>
            </a:r>
            <a:r>
              <a:rPr lang="en-US" b="1" dirty="0" err="1">
                <a:latin typeface="Times New Roman" panose="02020603050405020304" pitchFamily="18" charset="0"/>
                <a:cs typeface="Times New Roman" panose="02020603050405020304" pitchFamily="18" charset="0"/>
              </a:rPr>
              <a:t>itemsets</a:t>
            </a:r>
            <a:r>
              <a:rPr lang="en-US" b="1"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Support: This refers to the frequency or occurrence of an itemset in a dataset. This helps to determine which items are impactful in determining association rules. </a:t>
            </a:r>
          </a:p>
          <a:p>
            <a:pPr marL="342900" indent="-34290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Confidence: This is a measure of the strength of a rule indicating the likelihood that itemset Y will be purchased when itemset X is purchased. A higher confidence value indicates a stronger association between X and Y, implying that Y is likely to be purchased when X is purchased.</a:t>
            </a:r>
          </a:p>
          <a:p>
            <a:pPr marL="342900" indent="-34290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Association Rules: These are rules that describe relationships or associations between items in large datasets. These rules are often derived from transactional data, where each transaction consists of a set of items.</a:t>
            </a:r>
          </a:p>
          <a:p>
            <a:pPr marL="342900" indent="-34290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Lift: This measures the strength of association between the antecedent and consequent beyond what would be expected by chance. Lift values greater than 1 indicate that the presence of X increases the likelihood of Y, while values less than 1 indicate the opposite.</a:t>
            </a:r>
          </a:p>
        </p:txBody>
      </p:sp>
    </p:spTree>
    <p:extLst>
      <p:ext uri="{BB962C8B-B14F-4D97-AF65-F5344CB8AC3E}">
        <p14:creationId xmlns:p14="http://schemas.microsoft.com/office/powerpoint/2010/main" val="2429746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C490B-8BF4-C257-D520-C8BD34A0B7BD}"/>
              </a:ext>
            </a:extLst>
          </p:cNvPr>
          <p:cNvSpPr>
            <a:spLocks noGrp="1"/>
          </p:cNvSpPr>
          <p:nvPr>
            <p:ph type="title"/>
          </p:nvPr>
        </p:nvSpPr>
        <p:spPr>
          <a:xfrm>
            <a:off x="3013166" y="705394"/>
            <a:ext cx="8493034" cy="653143"/>
          </a:xfrm>
        </p:spPr>
        <p:txBody>
          <a:bodyPr/>
          <a:lstStyle/>
          <a:p>
            <a:pPr algn="l"/>
            <a:r>
              <a:rPr lang="en-US" b="1" u="sng" dirty="0" err="1"/>
              <a:t>Apriori</a:t>
            </a:r>
            <a:r>
              <a:rPr lang="en-US" b="1" u="sng" dirty="0"/>
              <a:t> Experiment 1</a:t>
            </a:r>
          </a:p>
        </p:txBody>
      </p:sp>
      <p:sp>
        <p:nvSpPr>
          <p:cNvPr id="4" name="TextBox 3">
            <a:extLst>
              <a:ext uri="{FF2B5EF4-FFF2-40B4-BE49-F238E27FC236}">
                <a16:creationId xmlns:a16="http://schemas.microsoft.com/office/drawing/2014/main" id="{844566D9-F919-3128-5C31-1AE84FA1E6C4}"/>
              </a:ext>
            </a:extLst>
          </p:cNvPr>
          <p:cNvSpPr txBox="1"/>
          <p:nvPr/>
        </p:nvSpPr>
        <p:spPr>
          <a:xfrm>
            <a:off x="174171" y="1585688"/>
            <a:ext cx="8281851" cy="1477328"/>
          </a:xfrm>
          <a:prstGeom prst="rect">
            <a:avLst/>
          </a:prstGeom>
          <a:noFill/>
        </p:spPr>
        <p:txBody>
          <a:bodyPr wrap="square">
            <a:spAutoFit/>
          </a:bodyPr>
          <a:lstStyle/>
          <a:p>
            <a:pPr marL="285750" indent="-285750">
              <a:buFont typeface="Wingdings" panose="05000000000000000000" pitchFamily="2" charset="2"/>
              <a:buChar char="§"/>
            </a:pPr>
            <a:r>
              <a:rPr lang="en-US" dirty="0"/>
              <a:t>Find the frequent </a:t>
            </a:r>
            <a:r>
              <a:rPr lang="en-US" dirty="0" err="1"/>
              <a:t>itemsets</a:t>
            </a:r>
            <a:r>
              <a:rPr lang="en-US" dirty="0"/>
              <a:t> with a minimum support threshold of 0.005, where only </a:t>
            </a:r>
            <a:r>
              <a:rPr lang="en-US" dirty="0" err="1"/>
              <a:t>itemsets</a:t>
            </a:r>
            <a:r>
              <a:rPr lang="en-US" dirty="0"/>
              <a:t> with at least 0.5% support are considered frequent.</a:t>
            </a:r>
          </a:p>
          <a:p>
            <a:pPr marL="285750" indent="-285750">
              <a:buFont typeface="Wingdings" panose="05000000000000000000" pitchFamily="2" charset="2"/>
              <a:buChar char="§"/>
            </a:pPr>
            <a:endParaRPr lang="en-US" dirty="0"/>
          </a:p>
          <a:p>
            <a:r>
              <a:rPr lang="en-US" dirty="0"/>
              <a:t>    Code:</a:t>
            </a:r>
          </a:p>
        </p:txBody>
      </p:sp>
      <p:sp>
        <p:nvSpPr>
          <p:cNvPr id="6" name="TextBox 5">
            <a:extLst>
              <a:ext uri="{FF2B5EF4-FFF2-40B4-BE49-F238E27FC236}">
                <a16:creationId xmlns:a16="http://schemas.microsoft.com/office/drawing/2014/main" id="{0C6925C4-5A72-E583-CBB7-9B939DB73983}"/>
              </a:ext>
            </a:extLst>
          </p:cNvPr>
          <p:cNvSpPr txBox="1"/>
          <p:nvPr/>
        </p:nvSpPr>
        <p:spPr>
          <a:xfrm>
            <a:off x="405352" y="3676454"/>
            <a:ext cx="3073138" cy="1200329"/>
          </a:xfrm>
          <a:prstGeom prst="rect">
            <a:avLst/>
          </a:prstGeom>
          <a:noFill/>
        </p:spPr>
        <p:txBody>
          <a:bodyPr wrap="square">
            <a:spAutoFit/>
          </a:bodyPr>
          <a:lstStyle/>
          <a:p>
            <a:r>
              <a:rPr lang="en-US" dirty="0"/>
              <a:t>Summary of the frequent </a:t>
            </a:r>
            <a:r>
              <a:rPr lang="en-US" dirty="0" err="1"/>
              <a:t>itemsets</a:t>
            </a:r>
            <a:r>
              <a:rPr lang="en-US" dirty="0"/>
              <a:t> with a minimum support threshold of 0.005:</a:t>
            </a:r>
          </a:p>
        </p:txBody>
      </p:sp>
      <p:pic>
        <p:nvPicPr>
          <p:cNvPr id="8" name="Picture 7">
            <a:extLst>
              <a:ext uri="{FF2B5EF4-FFF2-40B4-BE49-F238E27FC236}">
                <a16:creationId xmlns:a16="http://schemas.microsoft.com/office/drawing/2014/main" id="{B12CDF5A-64A2-6855-57C2-1BB8236B35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8112" y="2539569"/>
            <a:ext cx="6674176" cy="889431"/>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1C5137DE-7A19-DB02-892D-B52C589463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8112" y="3676454"/>
            <a:ext cx="6674176" cy="3044857"/>
          </a:xfrm>
          <a:prstGeom prst="rect">
            <a:avLst/>
          </a:prstGeom>
        </p:spPr>
      </p:pic>
    </p:spTree>
    <p:extLst>
      <p:ext uri="{BB962C8B-B14F-4D97-AF65-F5344CB8AC3E}">
        <p14:creationId xmlns:p14="http://schemas.microsoft.com/office/powerpoint/2010/main" val="838170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1A2DA-34C4-9C4C-BF15-D0993D71917E}"/>
              </a:ext>
            </a:extLst>
          </p:cNvPr>
          <p:cNvSpPr>
            <a:spLocks noGrp="1"/>
          </p:cNvSpPr>
          <p:nvPr>
            <p:ph type="title"/>
          </p:nvPr>
        </p:nvSpPr>
        <p:spPr>
          <a:xfrm>
            <a:off x="2895600" y="764373"/>
            <a:ext cx="8610600" cy="876582"/>
          </a:xfrm>
        </p:spPr>
        <p:txBody>
          <a:bodyPr/>
          <a:lstStyle/>
          <a:p>
            <a:pPr algn="l"/>
            <a:r>
              <a:rPr lang="en-US" b="1" u="sng" dirty="0" err="1"/>
              <a:t>Apriori</a:t>
            </a:r>
            <a:r>
              <a:rPr lang="en-US" b="1" u="sng" dirty="0"/>
              <a:t> Experiment 1</a:t>
            </a:r>
          </a:p>
        </p:txBody>
      </p:sp>
      <p:sp>
        <p:nvSpPr>
          <p:cNvPr id="4" name="TextBox 3">
            <a:extLst>
              <a:ext uri="{FF2B5EF4-FFF2-40B4-BE49-F238E27FC236}">
                <a16:creationId xmlns:a16="http://schemas.microsoft.com/office/drawing/2014/main" id="{ECABBC8C-D6B5-6C1C-04F7-3CDA75948091}"/>
              </a:ext>
            </a:extLst>
          </p:cNvPr>
          <p:cNvSpPr txBox="1"/>
          <p:nvPr/>
        </p:nvSpPr>
        <p:spPr>
          <a:xfrm>
            <a:off x="131975" y="1567654"/>
            <a:ext cx="9339606" cy="2862322"/>
          </a:xfrm>
          <a:prstGeom prst="rect">
            <a:avLst/>
          </a:prstGeom>
          <a:noFill/>
        </p:spPr>
        <p:txBody>
          <a:bodyPr wrap="square">
            <a:spAutoFit/>
          </a:bodyPr>
          <a:lstStyle/>
          <a:p>
            <a:pPr marL="285750" indent="-285750">
              <a:buFont typeface="Wingdings" panose="05000000000000000000" pitchFamily="2" charset="2"/>
              <a:buChar char="§"/>
            </a:pPr>
            <a:r>
              <a:rPr lang="en-US" dirty="0"/>
              <a:t>Find the association rules with a minimum confidence threshold of 0.6, where only rules greater than or equal to 60% are considered.</a:t>
            </a:r>
          </a:p>
          <a:p>
            <a:endParaRPr lang="en-US" dirty="0"/>
          </a:p>
          <a:p>
            <a:r>
              <a:rPr lang="en-US" dirty="0"/>
              <a:t>    Code:                               </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r>
              <a:rPr lang="en-US" dirty="0"/>
              <a:t>    Summary of the frequent      </a:t>
            </a:r>
          </a:p>
          <a:p>
            <a:r>
              <a:rPr lang="en-US" dirty="0"/>
              <a:t>    </a:t>
            </a:r>
            <a:r>
              <a:rPr lang="en-US" dirty="0" err="1"/>
              <a:t>itemsets</a:t>
            </a:r>
            <a:r>
              <a:rPr lang="en-US" dirty="0"/>
              <a:t> with a minimum </a:t>
            </a:r>
          </a:p>
          <a:p>
            <a:r>
              <a:rPr lang="en-US" dirty="0"/>
              <a:t>    confidence threshold of </a:t>
            </a:r>
          </a:p>
          <a:p>
            <a:r>
              <a:rPr lang="en-US" dirty="0"/>
              <a:t>    0.6:</a:t>
            </a:r>
          </a:p>
        </p:txBody>
      </p:sp>
      <p:pic>
        <p:nvPicPr>
          <p:cNvPr id="10" name="Picture 9">
            <a:extLst>
              <a:ext uri="{FF2B5EF4-FFF2-40B4-BE49-F238E27FC236}">
                <a16:creationId xmlns:a16="http://schemas.microsoft.com/office/drawing/2014/main" id="{46857E65-FCC5-FC78-84F7-D3BF92F4BF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8174" y="2348435"/>
            <a:ext cx="6070861" cy="678730"/>
          </a:xfrm>
          <a:prstGeom prst="rect">
            <a:avLst/>
          </a:prstGeom>
        </p:spPr>
      </p:pic>
      <p:pic>
        <p:nvPicPr>
          <p:cNvPr id="12" name="Picture 11" descr="A table with numbers and letters&#10;&#10;Description automatically generated">
            <a:extLst>
              <a:ext uri="{FF2B5EF4-FFF2-40B4-BE49-F238E27FC236}">
                <a16:creationId xmlns:a16="http://schemas.microsoft.com/office/drawing/2014/main" id="{6023AB24-B335-3EDB-2CFC-C0AC7E1C34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8174" y="3208655"/>
            <a:ext cx="7987645" cy="2130456"/>
          </a:xfrm>
          <a:prstGeom prst="rect">
            <a:avLst/>
          </a:prstGeom>
        </p:spPr>
      </p:pic>
      <p:sp>
        <p:nvSpPr>
          <p:cNvPr id="14" name="TextBox 13">
            <a:extLst>
              <a:ext uri="{FF2B5EF4-FFF2-40B4-BE49-F238E27FC236}">
                <a16:creationId xmlns:a16="http://schemas.microsoft.com/office/drawing/2014/main" id="{3E4AAA18-D30E-B05A-510D-4D2179EE2742}"/>
              </a:ext>
            </a:extLst>
          </p:cNvPr>
          <p:cNvSpPr txBox="1"/>
          <p:nvPr/>
        </p:nvSpPr>
        <p:spPr>
          <a:xfrm>
            <a:off x="131975" y="5631962"/>
            <a:ext cx="12060025" cy="923330"/>
          </a:xfrm>
          <a:prstGeom prst="rect">
            <a:avLst/>
          </a:prstGeom>
          <a:noFill/>
        </p:spPr>
        <p:txBody>
          <a:bodyPr wrap="square">
            <a:spAutoFit/>
          </a:bodyPr>
          <a:lstStyle/>
          <a:p>
            <a:pPr marL="285750" indent="-285750">
              <a:buFont typeface="Wingdings" panose="05000000000000000000" pitchFamily="2" charset="2"/>
              <a:buChar char="§"/>
            </a:pPr>
            <a:r>
              <a:rPr lang="en-US" dirty="0"/>
              <a:t>This experiment was run with low support of 0.005 and high confidence of 0.6. The association rules are observed to have high confidence [all the values for lift are greater than one] implying that the </a:t>
            </a:r>
            <a:r>
              <a:rPr lang="en-US" dirty="0" err="1"/>
              <a:t>itemsets</a:t>
            </a:r>
            <a:r>
              <a:rPr lang="en-US" dirty="0"/>
              <a:t> are positively correlated.</a:t>
            </a:r>
          </a:p>
        </p:txBody>
      </p:sp>
    </p:spTree>
    <p:extLst>
      <p:ext uri="{BB962C8B-B14F-4D97-AF65-F5344CB8AC3E}">
        <p14:creationId xmlns:p14="http://schemas.microsoft.com/office/powerpoint/2010/main" val="46606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D162B-E8B6-FCE2-E8DD-D4E991EF53C2}"/>
              </a:ext>
            </a:extLst>
          </p:cNvPr>
          <p:cNvSpPr>
            <a:spLocks noGrp="1"/>
          </p:cNvSpPr>
          <p:nvPr>
            <p:ph type="title"/>
          </p:nvPr>
        </p:nvSpPr>
        <p:spPr>
          <a:xfrm>
            <a:off x="2895600" y="764373"/>
            <a:ext cx="8610600" cy="809903"/>
          </a:xfrm>
        </p:spPr>
        <p:txBody>
          <a:bodyPr/>
          <a:lstStyle/>
          <a:p>
            <a:pPr algn="l"/>
            <a:r>
              <a:rPr lang="en-US" b="1" u="sng" dirty="0" err="1"/>
              <a:t>Apriori</a:t>
            </a:r>
            <a:r>
              <a:rPr lang="en-US" b="1" u="sng" dirty="0"/>
              <a:t> Experiment 2</a:t>
            </a:r>
            <a:endParaRPr lang="en-US" dirty="0"/>
          </a:p>
        </p:txBody>
      </p:sp>
      <p:sp>
        <p:nvSpPr>
          <p:cNvPr id="4" name="TextBox 3">
            <a:extLst>
              <a:ext uri="{FF2B5EF4-FFF2-40B4-BE49-F238E27FC236}">
                <a16:creationId xmlns:a16="http://schemas.microsoft.com/office/drawing/2014/main" id="{6E05B9B3-E9CE-A322-8F5E-3A3F48A3C179}"/>
              </a:ext>
            </a:extLst>
          </p:cNvPr>
          <p:cNvSpPr txBox="1"/>
          <p:nvPr/>
        </p:nvSpPr>
        <p:spPr>
          <a:xfrm>
            <a:off x="207390" y="1574276"/>
            <a:ext cx="8839985" cy="1200329"/>
          </a:xfrm>
          <a:prstGeom prst="rect">
            <a:avLst/>
          </a:prstGeom>
          <a:noFill/>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Find the frequent </a:t>
            </a:r>
            <a:r>
              <a:rPr kumimoji="0" lang="en-US" sz="1800" b="0" i="0" u="none" strike="noStrike" kern="1200" cap="none" spc="0" normalizeH="0" baseline="0" noProof="0" dirty="0" err="1">
                <a:ln>
                  <a:noFill/>
                </a:ln>
                <a:solidFill>
                  <a:prstClr val="white"/>
                </a:solidFill>
                <a:effectLst/>
                <a:uLnTx/>
                <a:uFillTx/>
                <a:latin typeface="Century Gothic" panose="020B0502020202020204"/>
                <a:ea typeface="+mn-ea"/>
                <a:cs typeface="+mn-cs"/>
              </a:rPr>
              <a:t>itemsets</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with a minimum support threshold of 0.008, where only </a:t>
            </a:r>
            <a:r>
              <a:rPr kumimoji="0" lang="en-US" sz="1800" b="0" i="0" u="none" strike="noStrike" kern="1200" cap="none" spc="0" normalizeH="0" baseline="0" noProof="0" dirty="0" err="1">
                <a:ln>
                  <a:noFill/>
                </a:ln>
                <a:solidFill>
                  <a:prstClr val="white"/>
                </a:solidFill>
                <a:effectLst/>
                <a:uLnTx/>
                <a:uFillTx/>
                <a:latin typeface="Century Gothic" panose="020B0502020202020204"/>
                <a:ea typeface="+mn-ea"/>
                <a:cs typeface="+mn-cs"/>
              </a:rPr>
              <a:t>itemsets</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with at least 0.8% support are considered frequent.</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Code:		</a:t>
            </a:r>
          </a:p>
        </p:txBody>
      </p:sp>
      <p:pic>
        <p:nvPicPr>
          <p:cNvPr id="6" name="Picture 5">
            <a:extLst>
              <a:ext uri="{FF2B5EF4-FFF2-40B4-BE49-F238E27FC236}">
                <a16:creationId xmlns:a16="http://schemas.microsoft.com/office/drawing/2014/main" id="{DBA1FB1C-6A05-88B3-3451-992F7E76CA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5244" y="2432918"/>
            <a:ext cx="6447933" cy="809903"/>
          </a:xfrm>
          <a:prstGeom prst="rect">
            <a:avLst/>
          </a:prstGeom>
        </p:spPr>
      </p:pic>
      <p:sp>
        <p:nvSpPr>
          <p:cNvPr id="8" name="TextBox 7">
            <a:extLst>
              <a:ext uri="{FF2B5EF4-FFF2-40B4-BE49-F238E27FC236}">
                <a16:creationId xmlns:a16="http://schemas.microsoft.com/office/drawing/2014/main" id="{C8D94BF1-9D0B-7A84-C739-1777A89A6855}"/>
              </a:ext>
            </a:extLst>
          </p:cNvPr>
          <p:cNvSpPr txBox="1"/>
          <p:nvPr/>
        </p:nvSpPr>
        <p:spPr>
          <a:xfrm>
            <a:off x="511404" y="3633247"/>
            <a:ext cx="3014221" cy="120032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Summary of the frequent </a:t>
            </a:r>
            <a:r>
              <a:rPr kumimoji="0" lang="en-US" sz="1800" b="0" i="0" u="none" strike="noStrike" kern="1200" cap="none" spc="0" normalizeH="0" baseline="0" noProof="0" dirty="0" err="1">
                <a:ln>
                  <a:noFill/>
                </a:ln>
                <a:solidFill>
                  <a:prstClr val="white"/>
                </a:solidFill>
                <a:effectLst/>
                <a:uLnTx/>
                <a:uFillTx/>
                <a:latin typeface="Century Gothic" panose="020B0502020202020204"/>
                <a:ea typeface="+mn-ea"/>
                <a:cs typeface="+mn-cs"/>
              </a:rPr>
              <a:t>itemsets</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with a minimum support threshold of 0.008:</a:t>
            </a:r>
          </a:p>
        </p:txBody>
      </p:sp>
      <p:pic>
        <p:nvPicPr>
          <p:cNvPr id="10" name="Picture 9" descr="A screenshot of a computer&#10;&#10;Description automatically generated">
            <a:extLst>
              <a:ext uri="{FF2B5EF4-FFF2-40B4-BE49-F238E27FC236}">
                <a16:creationId xmlns:a16="http://schemas.microsoft.com/office/drawing/2014/main" id="{70487CA5-AD53-290E-4EDF-71F4447044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5245" y="3584508"/>
            <a:ext cx="6447934" cy="3042535"/>
          </a:xfrm>
          <a:prstGeom prst="rect">
            <a:avLst/>
          </a:prstGeom>
        </p:spPr>
      </p:pic>
    </p:spTree>
    <p:extLst>
      <p:ext uri="{BB962C8B-B14F-4D97-AF65-F5344CB8AC3E}">
        <p14:creationId xmlns:p14="http://schemas.microsoft.com/office/powerpoint/2010/main" val="1244504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DCA65-3CB4-E01A-B419-BDFBCADAC633}"/>
              </a:ext>
            </a:extLst>
          </p:cNvPr>
          <p:cNvSpPr>
            <a:spLocks noGrp="1"/>
          </p:cNvSpPr>
          <p:nvPr>
            <p:ph type="title"/>
          </p:nvPr>
        </p:nvSpPr>
        <p:spPr>
          <a:xfrm>
            <a:off x="2895600" y="764373"/>
            <a:ext cx="8610600" cy="791050"/>
          </a:xfrm>
        </p:spPr>
        <p:txBody>
          <a:bodyPr/>
          <a:lstStyle/>
          <a:p>
            <a:pPr algn="l"/>
            <a:r>
              <a:rPr lang="en-US" b="1" u="sng" dirty="0" err="1"/>
              <a:t>Apriori</a:t>
            </a:r>
            <a:r>
              <a:rPr lang="en-US" b="1" u="sng" dirty="0"/>
              <a:t> Experiment 2</a:t>
            </a:r>
            <a:endParaRPr lang="en-US" dirty="0"/>
          </a:p>
        </p:txBody>
      </p:sp>
      <p:sp>
        <p:nvSpPr>
          <p:cNvPr id="4" name="TextBox 3">
            <a:extLst>
              <a:ext uri="{FF2B5EF4-FFF2-40B4-BE49-F238E27FC236}">
                <a16:creationId xmlns:a16="http://schemas.microsoft.com/office/drawing/2014/main" id="{95CEFEDD-AD94-59ED-C892-A0A1F3794304}"/>
              </a:ext>
            </a:extLst>
          </p:cNvPr>
          <p:cNvSpPr txBox="1"/>
          <p:nvPr/>
        </p:nvSpPr>
        <p:spPr>
          <a:xfrm>
            <a:off x="103695" y="1622441"/>
            <a:ext cx="9141643" cy="2862322"/>
          </a:xfrm>
          <a:prstGeom prst="rect">
            <a:avLst/>
          </a:prstGeom>
          <a:noFill/>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Find the association rules with a minimum confidence threshold of 0.3, where only rules greater than or equal to 30% are considered.</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Code: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Summary of the frequent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a:t>
            </a:r>
            <a:r>
              <a:rPr kumimoji="0" lang="en-US" sz="1800" b="0" i="0" u="none" strike="noStrike" kern="1200" cap="none" spc="0" normalizeH="0" baseline="0" noProof="0" dirty="0" err="1">
                <a:ln>
                  <a:noFill/>
                </a:ln>
                <a:solidFill>
                  <a:prstClr val="white"/>
                </a:solidFill>
                <a:effectLst/>
                <a:uLnTx/>
                <a:uFillTx/>
                <a:latin typeface="Century Gothic" panose="020B0502020202020204"/>
                <a:ea typeface="+mn-ea"/>
                <a:cs typeface="+mn-cs"/>
              </a:rPr>
              <a:t>itemsets</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with a minimum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confidence threshold of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0.3:</a:t>
            </a:r>
          </a:p>
        </p:txBody>
      </p:sp>
      <p:pic>
        <p:nvPicPr>
          <p:cNvPr id="6" name="Picture 5">
            <a:extLst>
              <a:ext uri="{FF2B5EF4-FFF2-40B4-BE49-F238E27FC236}">
                <a16:creationId xmlns:a16="http://schemas.microsoft.com/office/drawing/2014/main" id="{D73A2CA1-E6B9-07A5-00A2-1E9888B4A6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1305" y="2422689"/>
            <a:ext cx="5966009" cy="556181"/>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B43B4F60-E3E5-3EDC-6325-825CE46737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1304" y="3128334"/>
            <a:ext cx="8410695" cy="2442908"/>
          </a:xfrm>
          <a:prstGeom prst="rect">
            <a:avLst/>
          </a:prstGeom>
        </p:spPr>
      </p:pic>
      <p:sp>
        <p:nvSpPr>
          <p:cNvPr id="10" name="TextBox 9">
            <a:extLst>
              <a:ext uri="{FF2B5EF4-FFF2-40B4-BE49-F238E27FC236}">
                <a16:creationId xmlns:a16="http://schemas.microsoft.com/office/drawing/2014/main" id="{C3F78B87-8B66-643E-C4FB-875BD9D81D78}"/>
              </a:ext>
            </a:extLst>
          </p:cNvPr>
          <p:cNvSpPr txBox="1"/>
          <p:nvPr/>
        </p:nvSpPr>
        <p:spPr>
          <a:xfrm>
            <a:off x="153187" y="5720706"/>
            <a:ext cx="12038813" cy="923330"/>
          </a:xfrm>
          <a:prstGeom prst="rect">
            <a:avLst/>
          </a:prstGeom>
          <a:noFill/>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This experiment was run with </a:t>
            </a:r>
            <a:r>
              <a:rPr lang="en-US" dirty="0">
                <a:solidFill>
                  <a:prstClr val="white"/>
                </a:solidFill>
                <a:latin typeface="Century Gothic" panose="020B0502020202020204"/>
              </a:rPr>
              <a:t>a higher</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support of 0.008 and </a:t>
            </a:r>
            <a:r>
              <a:rPr lang="en-US" dirty="0">
                <a:solidFill>
                  <a:prstClr val="white"/>
                </a:solidFill>
                <a:latin typeface="Century Gothic" panose="020B0502020202020204"/>
              </a:rPr>
              <a:t>a lower</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confidence of 0.3. The association rules are observed to have high confidence</a:t>
            </a:r>
            <a:r>
              <a:rPr lang="en-US" dirty="0">
                <a:solidFill>
                  <a:prstClr val="white"/>
                </a:solidFill>
                <a:latin typeface="Century Gothic" panose="020B0502020202020204"/>
              </a:rPr>
              <a:t> [</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all the values for lift are greater than one] implying that the </a:t>
            </a:r>
            <a:r>
              <a:rPr kumimoji="0" lang="en-US" sz="1800" b="0" i="0" u="none" strike="noStrike" kern="1200" cap="none" spc="0" normalizeH="0" baseline="0" noProof="0" dirty="0" err="1">
                <a:ln>
                  <a:noFill/>
                </a:ln>
                <a:solidFill>
                  <a:prstClr val="white"/>
                </a:solidFill>
                <a:effectLst/>
                <a:uLnTx/>
                <a:uFillTx/>
                <a:latin typeface="Century Gothic" panose="020B0502020202020204"/>
                <a:ea typeface="+mn-ea"/>
                <a:cs typeface="+mn-cs"/>
              </a:rPr>
              <a:t>itemsets</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are positively correlated.</a:t>
            </a:r>
          </a:p>
        </p:txBody>
      </p:sp>
    </p:spTree>
    <p:extLst>
      <p:ext uri="{BB962C8B-B14F-4D97-AF65-F5344CB8AC3E}">
        <p14:creationId xmlns:p14="http://schemas.microsoft.com/office/powerpoint/2010/main" val="1160339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A04C5-2601-637B-CBDA-951E562A9BE3}"/>
              </a:ext>
            </a:extLst>
          </p:cNvPr>
          <p:cNvSpPr>
            <a:spLocks noGrp="1"/>
          </p:cNvSpPr>
          <p:nvPr>
            <p:ph type="title"/>
          </p:nvPr>
        </p:nvSpPr>
        <p:spPr>
          <a:xfrm>
            <a:off x="2895600" y="764373"/>
            <a:ext cx="8610600" cy="979586"/>
          </a:xfrm>
        </p:spPr>
        <p:txBody>
          <a:bodyPr/>
          <a:lstStyle/>
          <a:p>
            <a:pPr algn="l"/>
            <a:r>
              <a:rPr lang="en-US" b="1" u="sng" dirty="0" err="1"/>
              <a:t>Apriori</a:t>
            </a:r>
            <a:r>
              <a:rPr lang="en-US" b="1" u="sng" dirty="0"/>
              <a:t> Experiment 3</a:t>
            </a:r>
            <a:endParaRPr lang="en-US" dirty="0"/>
          </a:p>
        </p:txBody>
      </p:sp>
      <p:sp>
        <p:nvSpPr>
          <p:cNvPr id="4" name="TextBox 3">
            <a:extLst>
              <a:ext uri="{FF2B5EF4-FFF2-40B4-BE49-F238E27FC236}">
                <a16:creationId xmlns:a16="http://schemas.microsoft.com/office/drawing/2014/main" id="{00528210-C9E3-70F2-E996-C2B6DBFD1921}"/>
              </a:ext>
            </a:extLst>
          </p:cNvPr>
          <p:cNvSpPr txBox="1"/>
          <p:nvPr/>
        </p:nvSpPr>
        <p:spPr>
          <a:xfrm>
            <a:off x="267879" y="1743959"/>
            <a:ext cx="9028521" cy="1200329"/>
          </a:xfrm>
          <a:prstGeom prst="rect">
            <a:avLst/>
          </a:prstGeom>
          <a:noFill/>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Find the frequent </a:t>
            </a:r>
            <a:r>
              <a:rPr kumimoji="0" lang="en-US" sz="1800" b="0" i="0" u="none" strike="noStrike" kern="1200" cap="none" spc="0" normalizeH="0" baseline="0" noProof="0" dirty="0" err="1">
                <a:ln>
                  <a:noFill/>
                </a:ln>
                <a:solidFill>
                  <a:prstClr val="white"/>
                </a:solidFill>
                <a:effectLst/>
                <a:uLnTx/>
                <a:uFillTx/>
                <a:latin typeface="Century Gothic" panose="020B0502020202020204"/>
                <a:ea typeface="+mn-ea"/>
                <a:cs typeface="+mn-cs"/>
              </a:rPr>
              <a:t>itemsets</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with a minimum support threshold of 0.015, where only </a:t>
            </a:r>
            <a:r>
              <a:rPr kumimoji="0" lang="en-US" sz="1800" b="0" i="0" u="none" strike="noStrike" kern="1200" cap="none" spc="0" normalizeH="0" baseline="0" noProof="0" dirty="0" err="1">
                <a:ln>
                  <a:noFill/>
                </a:ln>
                <a:solidFill>
                  <a:prstClr val="white"/>
                </a:solidFill>
                <a:effectLst/>
                <a:uLnTx/>
                <a:uFillTx/>
                <a:latin typeface="Century Gothic" panose="020B0502020202020204"/>
                <a:ea typeface="+mn-ea"/>
                <a:cs typeface="+mn-cs"/>
              </a:rPr>
              <a:t>itemsets</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with at least 1.5% support are considered frequent.</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Code:		</a:t>
            </a:r>
          </a:p>
        </p:txBody>
      </p:sp>
      <p:sp>
        <p:nvSpPr>
          <p:cNvPr id="6" name="TextBox 5">
            <a:extLst>
              <a:ext uri="{FF2B5EF4-FFF2-40B4-BE49-F238E27FC236}">
                <a16:creationId xmlns:a16="http://schemas.microsoft.com/office/drawing/2014/main" id="{B085744D-549E-91D2-F0B0-52C57016A7A8}"/>
              </a:ext>
            </a:extLst>
          </p:cNvPr>
          <p:cNvSpPr txBox="1"/>
          <p:nvPr/>
        </p:nvSpPr>
        <p:spPr>
          <a:xfrm>
            <a:off x="549112" y="3353287"/>
            <a:ext cx="3023647" cy="120032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Summary of the frequent </a:t>
            </a:r>
            <a:r>
              <a:rPr kumimoji="0" lang="en-US" sz="1800" b="0" i="0" u="none" strike="noStrike" kern="1200" cap="none" spc="0" normalizeH="0" baseline="0" noProof="0" dirty="0" err="1">
                <a:ln>
                  <a:noFill/>
                </a:ln>
                <a:solidFill>
                  <a:prstClr val="white"/>
                </a:solidFill>
                <a:effectLst/>
                <a:uLnTx/>
                <a:uFillTx/>
                <a:latin typeface="Century Gothic" panose="020B0502020202020204"/>
                <a:ea typeface="+mn-ea"/>
                <a:cs typeface="+mn-cs"/>
              </a:rPr>
              <a:t>itemsets</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with a minimum support threshold of 0.015:</a:t>
            </a:r>
          </a:p>
        </p:txBody>
      </p:sp>
      <p:pic>
        <p:nvPicPr>
          <p:cNvPr id="10" name="Picture 9">
            <a:extLst>
              <a:ext uri="{FF2B5EF4-FFF2-40B4-BE49-F238E27FC236}">
                <a16:creationId xmlns:a16="http://schemas.microsoft.com/office/drawing/2014/main" id="{964AC8DA-4E04-6162-933C-B9AD30E417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3843" y="2582945"/>
            <a:ext cx="5412557" cy="641022"/>
          </a:xfrm>
          <a:prstGeom prst="rect">
            <a:avLst/>
          </a:prstGeom>
        </p:spPr>
      </p:pic>
      <p:pic>
        <p:nvPicPr>
          <p:cNvPr id="12" name="Picture 11" descr="A screenshot of a table&#10;&#10;Description automatically generated">
            <a:extLst>
              <a:ext uri="{FF2B5EF4-FFF2-40B4-BE49-F238E27FC236}">
                <a16:creationId xmlns:a16="http://schemas.microsoft.com/office/drawing/2014/main" id="{B7D50388-F683-D91F-3666-7803E45A10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83843" y="3429000"/>
            <a:ext cx="5412557" cy="3264031"/>
          </a:xfrm>
          <a:prstGeom prst="rect">
            <a:avLst/>
          </a:prstGeom>
        </p:spPr>
      </p:pic>
    </p:spTree>
    <p:extLst>
      <p:ext uri="{BB962C8B-B14F-4D97-AF65-F5344CB8AC3E}">
        <p14:creationId xmlns:p14="http://schemas.microsoft.com/office/powerpoint/2010/main" val="1830831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B6138-0D88-C4B6-4B14-62C2079B5CDE}"/>
              </a:ext>
            </a:extLst>
          </p:cNvPr>
          <p:cNvSpPr>
            <a:spLocks noGrp="1"/>
          </p:cNvSpPr>
          <p:nvPr>
            <p:ph type="title"/>
          </p:nvPr>
        </p:nvSpPr>
        <p:spPr>
          <a:xfrm>
            <a:off x="2895600" y="584461"/>
            <a:ext cx="8610600" cy="1178351"/>
          </a:xfrm>
        </p:spPr>
        <p:txBody>
          <a:bodyPr/>
          <a:lstStyle/>
          <a:p>
            <a:pPr algn="l"/>
            <a:r>
              <a:rPr lang="en-US" b="1" u="sng" dirty="0" err="1"/>
              <a:t>Apriori</a:t>
            </a:r>
            <a:r>
              <a:rPr lang="en-US" b="1" u="sng" dirty="0"/>
              <a:t> Experiment 3</a:t>
            </a:r>
            <a:endParaRPr lang="en-US" dirty="0"/>
          </a:p>
        </p:txBody>
      </p:sp>
      <p:sp>
        <p:nvSpPr>
          <p:cNvPr id="4" name="TextBox 3">
            <a:extLst>
              <a:ext uri="{FF2B5EF4-FFF2-40B4-BE49-F238E27FC236}">
                <a16:creationId xmlns:a16="http://schemas.microsoft.com/office/drawing/2014/main" id="{D0BCF246-067A-065A-846D-E6725320359F}"/>
              </a:ext>
            </a:extLst>
          </p:cNvPr>
          <p:cNvSpPr txBox="1"/>
          <p:nvPr/>
        </p:nvSpPr>
        <p:spPr>
          <a:xfrm>
            <a:off x="141402" y="1531757"/>
            <a:ext cx="8981387" cy="2862322"/>
          </a:xfrm>
          <a:prstGeom prst="rect">
            <a:avLst/>
          </a:prstGeom>
          <a:noFill/>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Find the association rules with a minimum confidence threshold of 0.2, where only rules greater than or equal to 20% are considered.</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Code: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Summary of the frequent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a:t>
            </a:r>
            <a:r>
              <a:rPr kumimoji="0" lang="en-US" sz="1800" b="0" i="0" u="none" strike="noStrike" kern="1200" cap="none" spc="0" normalizeH="0" baseline="0" noProof="0" dirty="0" err="1">
                <a:ln>
                  <a:noFill/>
                </a:ln>
                <a:solidFill>
                  <a:prstClr val="white"/>
                </a:solidFill>
                <a:effectLst/>
                <a:uLnTx/>
                <a:uFillTx/>
                <a:latin typeface="Century Gothic" panose="020B0502020202020204"/>
                <a:ea typeface="+mn-ea"/>
                <a:cs typeface="+mn-cs"/>
              </a:rPr>
              <a:t>itemsets</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with a minimum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confidence threshold of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0.2:</a:t>
            </a:r>
          </a:p>
        </p:txBody>
      </p:sp>
      <p:pic>
        <p:nvPicPr>
          <p:cNvPr id="6" name="Picture 5">
            <a:extLst>
              <a:ext uri="{FF2B5EF4-FFF2-40B4-BE49-F238E27FC236}">
                <a16:creationId xmlns:a16="http://schemas.microsoft.com/office/drawing/2014/main" id="{2237BEE4-3EF5-3EB2-871B-56B5E91F13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6355" y="2309469"/>
            <a:ext cx="6150070" cy="801278"/>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6F0F2A65-C3B9-0B36-0551-58D863F20B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6355" y="3331958"/>
            <a:ext cx="8205113" cy="2124241"/>
          </a:xfrm>
          <a:prstGeom prst="rect">
            <a:avLst/>
          </a:prstGeom>
        </p:spPr>
      </p:pic>
      <p:sp>
        <p:nvSpPr>
          <p:cNvPr id="10" name="TextBox 9">
            <a:extLst>
              <a:ext uri="{FF2B5EF4-FFF2-40B4-BE49-F238E27FC236}">
                <a16:creationId xmlns:a16="http://schemas.microsoft.com/office/drawing/2014/main" id="{C89F3A62-EBC6-ABC5-5463-0F6C1C010865}"/>
              </a:ext>
            </a:extLst>
          </p:cNvPr>
          <p:cNvSpPr txBox="1"/>
          <p:nvPr/>
        </p:nvSpPr>
        <p:spPr>
          <a:xfrm>
            <a:off x="163398" y="5501560"/>
            <a:ext cx="11865204" cy="1200329"/>
          </a:xfrm>
          <a:prstGeom prst="rect">
            <a:avLst/>
          </a:prstGeom>
          <a:noFill/>
        </p:spPr>
        <p:txBody>
          <a:bodyPr wrap="square">
            <a:spAutoFit/>
          </a:bodyPr>
          <a:lstStyle/>
          <a:p>
            <a:pPr marL="285750" indent="-285750">
              <a:buFont typeface="Wingdings" panose="05000000000000000000" pitchFamily="2" charset="2"/>
              <a:buChar char="§"/>
            </a:pPr>
            <a:r>
              <a:rPr lang="en-US" dirty="0"/>
              <a:t>This experiment was run with a support of 0.015 and confidence of 0.2. These are not the best parameters to use as they only list a few associations out of the large group of products in the entire grocery store. The </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association rules are observed to have high confidence [all the values for lift are greater than one] implying that the </a:t>
            </a:r>
            <a:r>
              <a:rPr kumimoji="0" lang="en-US" sz="1800" b="0" i="0" u="none" strike="noStrike" kern="1200" cap="none" spc="0" normalizeH="0" baseline="0" noProof="0" dirty="0" err="1">
                <a:ln>
                  <a:noFill/>
                </a:ln>
                <a:solidFill>
                  <a:prstClr val="white"/>
                </a:solidFill>
                <a:effectLst/>
                <a:uLnTx/>
                <a:uFillTx/>
                <a:latin typeface="Century Gothic" panose="020B0502020202020204"/>
                <a:ea typeface="+mn-ea"/>
                <a:cs typeface="+mn-cs"/>
              </a:rPr>
              <a:t>itemsets</a:t>
            </a: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 are positively correlated.</a:t>
            </a:r>
            <a:endParaRPr lang="en-US" dirty="0"/>
          </a:p>
        </p:txBody>
      </p:sp>
    </p:spTree>
    <p:extLst>
      <p:ext uri="{BB962C8B-B14F-4D97-AF65-F5344CB8AC3E}">
        <p14:creationId xmlns:p14="http://schemas.microsoft.com/office/powerpoint/2010/main" val="1065521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965ED-115D-AF6E-87B8-B634F9D107A5}"/>
              </a:ext>
            </a:extLst>
          </p:cNvPr>
          <p:cNvSpPr>
            <a:spLocks noGrp="1"/>
          </p:cNvSpPr>
          <p:nvPr>
            <p:ph type="title"/>
          </p:nvPr>
        </p:nvSpPr>
        <p:spPr>
          <a:xfrm>
            <a:off x="2867320" y="519351"/>
            <a:ext cx="8610600" cy="1293028"/>
          </a:xfrm>
        </p:spPr>
        <p:txBody>
          <a:bodyPr/>
          <a:lstStyle/>
          <a:p>
            <a:pPr algn="l"/>
            <a:r>
              <a:rPr lang="en-US" b="1" u="sng" dirty="0"/>
              <a:t>CONCLUSION</a:t>
            </a:r>
          </a:p>
        </p:txBody>
      </p:sp>
      <p:sp>
        <p:nvSpPr>
          <p:cNvPr id="4" name="TextBox 3">
            <a:extLst>
              <a:ext uri="{FF2B5EF4-FFF2-40B4-BE49-F238E27FC236}">
                <a16:creationId xmlns:a16="http://schemas.microsoft.com/office/drawing/2014/main" id="{1D0624FC-E17F-6BDA-E112-058F32FE3716}"/>
              </a:ext>
            </a:extLst>
          </p:cNvPr>
          <p:cNvSpPr txBox="1"/>
          <p:nvPr/>
        </p:nvSpPr>
        <p:spPr>
          <a:xfrm>
            <a:off x="77378" y="1647027"/>
            <a:ext cx="12037243" cy="923330"/>
          </a:xfrm>
          <a:prstGeom prst="rect">
            <a:avLst/>
          </a:prstGeom>
          <a:noFill/>
        </p:spPr>
        <p:txBody>
          <a:bodyPr wrap="square">
            <a:spAutoFit/>
          </a:bodyPr>
          <a:lstStyle/>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main objective was to identify patterns of co-occurrence among items frequently purchased together by customers, allowing businesses to understand buying habits, optimize product placement, and implement targeted marketing strategies to enhance sales and customer satisfaction.</a:t>
            </a:r>
          </a:p>
        </p:txBody>
      </p:sp>
      <p:graphicFrame>
        <p:nvGraphicFramePr>
          <p:cNvPr id="5" name="Table 4">
            <a:extLst>
              <a:ext uri="{FF2B5EF4-FFF2-40B4-BE49-F238E27FC236}">
                <a16:creationId xmlns:a16="http://schemas.microsoft.com/office/drawing/2014/main" id="{C676B737-3F81-E4AF-988A-02317E849030}"/>
              </a:ext>
            </a:extLst>
          </p:cNvPr>
          <p:cNvGraphicFramePr>
            <a:graphicFrameLocks noGrp="1"/>
          </p:cNvGraphicFramePr>
          <p:nvPr>
            <p:extLst>
              <p:ext uri="{D42A27DB-BD31-4B8C-83A1-F6EECF244321}">
                <p14:modId xmlns:p14="http://schemas.microsoft.com/office/powerpoint/2010/main" val="1418241434"/>
              </p:ext>
            </p:extLst>
          </p:nvPr>
        </p:nvGraphicFramePr>
        <p:xfrm>
          <a:off x="527900" y="3050032"/>
          <a:ext cx="4496586" cy="2144520"/>
        </p:xfrm>
        <a:graphic>
          <a:graphicData uri="http://schemas.openxmlformats.org/drawingml/2006/table">
            <a:tbl>
              <a:tblPr firstRow="1" bandRow="1">
                <a:tableStyleId>{5C22544A-7EE6-4342-B048-85BDC9FD1C3A}</a:tableStyleId>
              </a:tblPr>
              <a:tblGrid>
                <a:gridCol w="1583703">
                  <a:extLst>
                    <a:ext uri="{9D8B030D-6E8A-4147-A177-3AD203B41FA5}">
                      <a16:colId xmlns:a16="http://schemas.microsoft.com/office/drawing/2014/main" val="3995186481"/>
                    </a:ext>
                  </a:extLst>
                </a:gridCol>
                <a:gridCol w="1404594">
                  <a:extLst>
                    <a:ext uri="{9D8B030D-6E8A-4147-A177-3AD203B41FA5}">
                      <a16:colId xmlns:a16="http://schemas.microsoft.com/office/drawing/2014/main" val="2958122467"/>
                    </a:ext>
                  </a:extLst>
                </a:gridCol>
                <a:gridCol w="1508289">
                  <a:extLst>
                    <a:ext uri="{9D8B030D-6E8A-4147-A177-3AD203B41FA5}">
                      <a16:colId xmlns:a16="http://schemas.microsoft.com/office/drawing/2014/main" val="3436921440"/>
                    </a:ext>
                  </a:extLst>
                </a:gridCol>
              </a:tblGrid>
              <a:tr h="536130">
                <a:tc>
                  <a:txBody>
                    <a:bodyPr/>
                    <a:lstStyle/>
                    <a:p>
                      <a:pPr algn="ctr"/>
                      <a:r>
                        <a:rPr lang="en-US" dirty="0"/>
                        <a:t>Experiment</a:t>
                      </a:r>
                    </a:p>
                  </a:txBody>
                  <a:tcPr/>
                </a:tc>
                <a:tc>
                  <a:txBody>
                    <a:bodyPr/>
                    <a:lstStyle/>
                    <a:p>
                      <a:pPr algn="ctr"/>
                      <a:r>
                        <a:rPr lang="en-US" dirty="0"/>
                        <a:t>Support</a:t>
                      </a:r>
                    </a:p>
                  </a:txBody>
                  <a:tcPr/>
                </a:tc>
                <a:tc>
                  <a:txBody>
                    <a:bodyPr/>
                    <a:lstStyle/>
                    <a:p>
                      <a:pPr algn="ctr"/>
                      <a:r>
                        <a:rPr lang="en-US" dirty="0"/>
                        <a:t>Confidence</a:t>
                      </a:r>
                    </a:p>
                  </a:txBody>
                  <a:tcPr/>
                </a:tc>
                <a:extLst>
                  <a:ext uri="{0D108BD9-81ED-4DB2-BD59-A6C34878D82A}">
                    <a16:rowId xmlns:a16="http://schemas.microsoft.com/office/drawing/2014/main" val="482931934"/>
                  </a:ext>
                </a:extLst>
              </a:tr>
              <a:tr h="536130">
                <a:tc>
                  <a:txBody>
                    <a:bodyPr/>
                    <a:lstStyle/>
                    <a:p>
                      <a:pPr algn="ctr"/>
                      <a:r>
                        <a:rPr lang="en-US" dirty="0"/>
                        <a:t>1</a:t>
                      </a:r>
                    </a:p>
                  </a:txBody>
                  <a:tcPr/>
                </a:tc>
                <a:tc>
                  <a:txBody>
                    <a:bodyPr/>
                    <a:lstStyle/>
                    <a:p>
                      <a:pPr algn="ctr"/>
                      <a:r>
                        <a:rPr lang="en-US" dirty="0"/>
                        <a:t>0.005</a:t>
                      </a:r>
                    </a:p>
                  </a:txBody>
                  <a:tcPr/>
                </a:tc>
                <a:tc>
                  <a:txBody>
                    <a:bodyPr/>
                    <a:lstStyle/>
                    <a:p>
                      <a:pPr algn="ctr"/>
                      <a:r>
                        <a:rPr lang="en-US" dirty="0"/>
                        <a:t>0.6</a:t>
                      </a:r>
                    </a:p>
                  </a:txBody>
                  <a:tcPr/>
                </a:tc>
                <a:extLst>
                  <a:ext uri="{0D108BD9-81ED-4DB2-BD59-A6C34878D82A}">
                    <a16:rowId xmlns:a16="http://schemas.microsoft.com/office/drawing/2014/main" val="3435490339"/>
                  </a:ext>
                </a:extLst>
              </a:tr>
              <a:tr h="536130">
                <a:tc>
                  <a:txBody>
                    <a:bodyPr/>
                    <a:lstStyle/>
                    <a:p>
                      <a:pPr algn="ctr"/>
                      <a:r>
                        <a:rPr lang="en-US" dirty="0"/>
                        <a:t>2</a:t>
                      </a:r>
                    </a:p>
                  </a:txBody>
                  <a:tcPr/>
                </a:tc>
                <a:tc>
                  <a:txBody>
                    <a:bodyPr/>
                    <a:lstStyle/>
                    <a:p>
                      <a:pPr algn="ctr"/>
                      <a:r>
                        <a:rPr lang="en-US" dirty="0"/>
                        <a:t>0.008</a:t>
                      </a:r>
                    </a:p>
                  </a:txBody>
                  <a:tcPr/>
                </a:tc>
                <a:tc>
                  <a:txBody>
                    <a:bodyPr/>
                    <a:lstStyle/>
                    <a:p>
                      <a:pPr algn="ctr"/>
                      <a:r>
                        <a:rPr lang="en-US" dirty="0"/>
                        <a:t>0.3</a:t>
                      </a:r>
                    </a:p>
                  </a:txBody>
                  <a:tcPr/>
                </a:tc>
                <a:extLst>
                  <a:ext uri="{0D108BD9-81ED-4DB2-BD59-A6C34878D82A}">
                    <a16:rowId xmlns:a16="http://schemas.microsoft.com/office/drawing/2014/main" val="2077083783"/>
                  </a:ext>
                </a:extLst>
              </a:tr>
              <a:tr h="536130">
                <a:tc>
                  <a:txBody>
                    <a:bodyPr/>
                    <a:lstStyle/>
                    <a:p>
                      <a:pPr algn="ctr"/>
                      <a:r>
                        <a:rPr lang="en-US" dirty="0"/>
                        <a:t>3</a:t>
                      </a:r>
                    </a:p>
                  </a:txBody>
                  <a:tcPr/>
                </a:tc>
                <a:tc>
                  <a:txBody>
                    <a:bodyPr/>
                    <a:lstStyle/>
                    <a:p>
                      <a:pPr algn="ctr"/>
                      <a:r>
                        <a:rPr lang="en-US" dirty="0"/>
                        <a:t>0.15</a:t>
                      </a:r>
                    </a:p>
                  </a:txBody>
                  <a:tcPr/>
                </a:tc>
                <a:tc>
                  <a:txBody>
                    <a:bodyPr/>
                    <a:lstStyle/>
                    <a:p>
                      <a:pPr algn="ctr"/>
                      <a:r>
                        <a:rPr lang="en-US" dirty="0"/>
                        <a:t>0.2</a:t>
                      </a:r>
                    </a:p>
                  </a:txBody>
                  <a:tcPr/>
                </a:tc>
                <a:extLst>
                  <a:ext uri="{0D108BD9-81ED-4DB2-BD59-A6C34878D82A}">
                    <a16:rowId xmlns:a16="http://schemas.microsoft.com/office/drawing/2014/main" val="1218493338"/>
                  </a:ext>
                </a:extLst>
              </a:tr>
            </a:tbl>
          </a:graphicData>
        </a:graphic>
      </p:graphicFrame>
      <p:sp>
        <p:nvSpPr>
          <p:cNvPr id="7" name="TextBox 6">
            <a:extLst>
              <a:ext uri="{FF2B5EF4-FFF2-40B4-BE49-F238E27FC236}">
                <a16:creationId xmlns:a16="http://schemas.microsoft.com/office/drawing/2014/main" id="{AA2920E0-2ECD-D7EC-BBB8-75A4129CD1BD}"/>
              </a:ext>
            </a:extLst>
          </p:cNvPr>
          <p:cNvSpPr txBox="1"/>
          <p:nvPr/>
        </p:nvSpPr>
        <p:spPr>
          <a:xfrm>
            <a:off x="5627410" y="3106425"/>
            <a:ext cx="6487211" cy="1754326"/>
          </a:xfrm>
          <a:prstGeom prst="rect">
            <a:avLst/>
          </a:prstGeom>
          <a:noFill/>
        </p:spPr>
        <p:txBody>
          <a:bodyPr wrap="square">
            <a:spAutoFit/>
          </a:bodyPr>
          <a:lstStyle/>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All the three experiments produced results with strong positive association rules with regards to the lift calculation. However, experiment 2 produces the most relevant results that can be used for decision making. From that, it can be noted that low support and average confidence are likely to return the best results for this dataset and objective. </a:t>
            </a:r>
          </a:p>
        </p:txBody>
      </p:sp>
      <p:sp>
        <p:nvSpPr>
          <p:cNvPr id="9" name="TextBox 8">
            <a:extLst>
              <a:ext uri="{FF2B5EF4-FFF2-40B4-BE49-F238E27FC236}">
                <a16:creationId xmlns:a16="http://schemas.microsoft.com/office/drawing/2014/main" id="{CC9CB10B-E941-1768-B96D-3EFD7BBE0B53}"/>
              </a:ext>
            </a:extLst>
          </p:cNvPr>
          <p:cNvSpPr txBox="1"/>
          <p:nvPr/>
        </p:nvSpPr>
        <p:spPr>
          <a:xfrm>
            <a:off x="77378" y="5396819"/>
            <a:ext cx="11848313" cy="1477328"/>
          </a:xfrm>
          <a:prstGeom prst="rect">
            <a:avLst/>
          </a:prstGeom>
          <a:noFill/>
        </p:spPr>
        <p:txBody>
          <a:bodyPr wrap="square">
            <a:spAutoFit/>
          </a:bodyPr>
          <a:lstStyle/>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From the association table output, you can identify which products are frequently purchased together and place them together in shelves or use them to run an advertisement to a consumer immediately after they have purchased one product from an itemset. For instance, we have observed that there is a really strong association between whole milk and other vegetables. Therefore, it would be an excellent idea to place the two </a:t>
            </a:r>
            <a:r>
              <a:rPr lang="en-US" dirty="0" err="1">
                <a:latin typeface="Times New Roman" panose="02020603050405020304" pitchFamily="18" charset="0"/>
                <a:cs typeface="Times New Roman" panose="02020603050405020304" pitchFamily="18" charset="0"/>
              </a:rPr>
              <a:t>iteams</a:t>
            </a:r>
            <a:r>
              <a:rPr lang="en-US" dirty="0">
                <a:latin typeface="Times New Roman" panose="02020603050405020304" pitchFamily="18" charset="0"/>
                <a:cs typeface="Times New Roman" panose="02020603050405020304" pitchFamily="18" charset="0"/>
              </a:rPr>
              <a:t> close to each to encourage consumers to purchase both at the same time.</a:t>
            </a:r>
          </a:p>
        </p:txBody>
      </p:sp>
    </p:spTree>
    <p:extLst>
      <p:ext uri="{BB962C8B-B14F-4D97-AF65-F5344CB8AC3E}">
        <p14:creationId xmlns:p14="http://schemas.microsoft.com/office/powerpoint/2010/main" val="2570758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763AD-33A8-8C07-B090-28AF1144A399}"/>
              </a:ext>
            </a:extLst>
          </p:cNvPr>
          <p:cNvSpPr>
            <a:spLocks noGrp="1"/>
          </p:cNvSpPr>
          <p:nvPr>
            <p:ph type="title"/>
          </p:nvPr>
        </p:nvSpPr>
        <p:spPr>
          <a:xfrm>
            <a:off x="1272618" y="1103737"/>
            <a:ext cx="10073326" cy="1293028"/>
          </a:xfrm>
        </p:spPr>
        <p:txBody>
          <a:bodyPr/>
          <a:lstStyle/>
          <a:p>
            <a:pPr algn="l"/>
            <a:r>
              <a:rPr lang="en-US" b="1" u="sng" dirty="0"/>
              <a:t>References</a:t>
            </a:r>
          </a:p>
        </p:txBody>
      </p:sp>
      <p:sp>
        <p:nvSpPr>
          <p:cNvPr id="4" name="TextBox 3">
            <a:extLst>
              <a:ext uri="{FF2B5EF4-FFF2-40B4-BE49-F238E27FC236}">
                <a16:creationId xmlns:a16="http://schemas.microsoft.com/office/drawing/2014/main" id="{816136D2-BB7D-5F57-A29E-DB28210E581B}"/>
              </a:ext>
            </a:extLst>
          </p:cNvPr>
          <p:cNvSpPr txBox="1"/>
          <p:nvPr/>
        </p:nvSpPr>
        <p:spPr>
          <a:xfrm>
            <a:off x="1272618" y="2396765"/>
            <a:ext cx="10605153" cy="3139321"/>
          </a:xfrm>
          <a:prstGeom prst="rect">
            <a:avLst/>
          </a:prstGeom>
          <a:noFill/>
        </p:spPr>
        <p:txBody>
          <a:bodyPr wrap="square">
            <a:spAutoFit/>
          </a:bodyPr>
          <a:lstStyle/>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Agrawal, R., </a:t>
            </a:r>
            <a:r>
              <a:rPr lang="en-US" dirty="0" err="1">
                <a:latin typeface="Times New Roman" panose="02020603050405020304" pitchFamily="18" charset="0"/>
                <a:cs typeface="Times New Roman" panose="02020603050405020304" pitchFamily="18" charset="0"/>
              </a:rPr>
              <a:t>Imielinski</a:t>
            </a:r>
            <a:r>
              <a:rPr lang="en-US" dirty="0">
                <a:latin typeface="Times New Roman" panose="02020603050405020304" pitchFamily="18" charset="0"/>
                <a:cs typeface="Times New Roman" panose="02020603050405020304" pitchFamily="18" charset="0"/>
              </a:rPr>
              <a:t>, T., &amp; Swami, A. (1993). Mining Association Rules between Sets of Items in Large Databases. In Proceedings of the 1993 ACM SIGMOD International Conference on Management of Data (pp. 207-216).</a:t>
            </a:r>
          </a:p>
          <a:p>
            <a:pPr marL="285750" indent="-285750">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Han, J., Pei, J., &amp; Yin, Y. (2000). Mining Frequent Patterns without Candidate Generation. In Proceedings of the 2000 ACM SIGMOD International Conference on Management of Data (pp. 1-12).</a:t>
            </a:r>
          </a:p>
          <a:p>
            <a:pPr marL="285750" indent="-285750">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fr-FR" dirty="0" err="1">
                <a:latin typeface="Times New Roman" panose="02020603050405020304" pitchFamily="18" charset="0"/>
                <a:cs typeface="Times New Roman" panose="02020603050405020304" pitchFamily="18" charset="0"/>
              </a:rPr>
              <a:t>mlxtend</a:t>
            </a:r>
            <a:r>
              <a:rPr lang="fr-FR" dirty="0">
                <a:latin typeface="Times New Roman" panose="02020603050405020304" pitchFamily="18" charset="0"/>
                <a:cs typeface="Times New Roman" panose="02020603050405020304" pitchFamily="18" charset="0"/>
              </a:rPr>
              <a:t> Documentation: </a:t>
            </a:r>
            <a:r>
              <a:rPr lang="fr-FR" dirty="0">
                <a:latin typeface="Times New Roman" panose="02020603050405020304" pitchFamily="18" charset="0"/>
                <a:cs typeface="Times New Roman" panose="02020603050405020304" pitchFamily="18" charset="0"/>
                <a:hlinkClick r:id="rId2"/>
              </a:rPr>
              <a:t>https://rasbt.github.io/mlxtend/</a:t>
            </a:r>
            <a:endParaRPr lang="fr-FR"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fr-FR"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fr-FR" dirty="0">
                <a:latin typeface="Times New Roman" panose="02020603050405020304" pitchFamily="18" charset="0"/>
                <a:cs typeface="Times New Roman" panose="02020603050405020304" pitchFamily="18" charset="0"/>
              </a:rPr>
              <a:t>pandas Documentation: </a:t>
            </a:r>
            <a:r>
              <a:rPr lang="fr-FR" dirty="0">
                <a:latin typeface="Times New Roman" panose="02020603050405020304" pitchFamily="18" charset="0"/>
                <a:cs typeface="Times New Roman" panose="02020603050405020304" pitchFamily="18" charset="0"/>
                <a:hlinkClick r:id="rId3"/>
              </a:rPr>
              <a:t>https://pandas.pydata.org/docs/</a:t>
            </a:r>
            <a:endParaRPr lang="fr-FR"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4545114"/>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Vapor Trail</Template>
  <TotalTime>967</TotalTime>
  <Words>1293</Words>
  <Application>Microsoft Office PowerPoint</Application>
  <PresentationFormat>Widescreen</PresentationFormat>
  <Paragraphs>112</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Century Gothic</vt:lpstr>
      <vt:lpstr>Times New Roman</vt:lpstr>
      <vt:lpstr>Wingdings</vt:lpstr>
      <vt:lpstr>Vapor Trail</vt:lpstr>
      <vt:lpstr>Groceries Market Basket Dataset </vt:lpstr>
      <vt:lpstr>Dataset Description &amp; Objective</vt:lpstr>
      <vt:lpstr> </vt:lpstr>
      <vt:lpstr>Data Preprocessing</vt:lpstr>
      <vt:lpstr>Definition of terms related to apriori algorithm</vt:lpstr>
      <vt:lpstr>Apriori Experiment 1</vt:lpstr>
      <vt:lpstr>Apriori Experiment 1</vt:lpstr>
      <vt:lpstr>Apriori Experiment 2</vt:lpstr>
      <vt:lpstr>Apriori Experiment 2</vt:lpstr>
      <vt:lpstr>Apriori Experiment 3</vt:lpstr>
      <vt:lpstr>Apriori Experiment 3</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Groceries Market Basket Dataset </dc:title>
  <dc:creator>Dianah Mutanda</dc:creator>
  <cp:lastModifiedBy>Dianah Mutanda</cp:lastModifiedBy>
  <cp:revision>20</cp:revision>
  <dcterms:created xsi:type="dcterms:W3CDTF">2024-04-05T23:49:49Z</dcterms:created>
  <dcterms:modified xsi:type="dcterms:W3CDTF">2024-04-06T15:57:22Z</dcterms:modified>
</cp:coreProperties>
</file>